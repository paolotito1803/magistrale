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Proxima Nova"/>
      <p:regular r:id="rId52"/>
      <p:bold r:id="rId53"/>
      <p:italic r:id="rId54"/>
      <p:boldItalic r:id="rId55"/>
    </p:embeddedFont>
    <p:embeddedFont>
      <p:font typeface="Roboto Mono Light"/>
      <p:regular r:id="rId56"/>
      <p:bold r:id="rId57"/>
      <p:italic r:id="rId58"/>
      <p:boldItalic r:id="rId59"/>
    </p:embeddedFont>
    <p:embeddedFont>
      <p:font typeface="Roboto Mon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1CD78A-1505-4454-8DDA-799284A9CF8D}">
  <a:tblStyle styleId="{B61CD78A-1505-4454-8DDA-799284A9CF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italic.fntdata"/><Relationship Id="rId61" Type="http://schemas.openxmlformats.org/officeDocument/2006/relationships/font" Target="fonts/RobotoMono-bold.fntdata"/><Relationship Id="rId20" Type="http://schemas.openxmlformats.org/officeDocument/2006/relationships/slide" Target="slides/slide14.xml"/><Relationship Id="rId63"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ProximaNova-bold.fntdata"/><Relationship Id="rId52" Type="http://schemas.openxmlformats.org/officeDocument/2006/relationships/font" Target="fonts/ProximaNova-regular.fntdata"/><Relationship Id="rId11" Type="http://schemas.openxmlformats.org/officeDocument/2006/relationships/slide" Target="slides/slide5.xml"/><Relationship Id="rId55" Type="http://schemas.openxmlformats.org/officeDocument/2006/relationships/font" Target="fonts/ProximaNova-boldItalic.fntdata"/><Relationship Id="rId10" Type="http://schemas.openxmlformats.org/officeDocument/2006/relationships/slide" Target="slides/slide4.xml"/><Relationship Id="rId54" Type="http://schemas.openxmlformats.org/officeDocument/2006/relationships/font" Target="fonts/ProximaNova-italic.fntdata"/><Relationship Id="rId13" Type="http://schemas.openxmlformats.org/officeDocument/2006/relationships/slide" Target="slides/slide7.xml"/><Relationship Id="rId57" Type="http://schemas.openxmlformats.org/officeDocument/2006/relationships/font" Target="fonts/RobotoMonoLight-bold.fntdata"/><Relationship Id="rId12" Type="http://schemas.openxmlformats.org/officeDocument/2006/relationships/slide" Target="slides/slide6.xml"/><Relationship Id="rId56" Type="http://schemas.openxmlformats.org/officeDocument/2006/relationships/font" Target="fonts/RobotoMonoLight-regular.fntdata"/><Relationship Id="rId15" Type="http://schemas.openxmlformats.org/officeDocument/2006/relationships/slide" Target="slides/slide9.xml"/><Relationship Id="rId59" Type="http://schemas.openxmlformats.org/officeDocument/2006/relationships/font" Target="fonts/RobotoMonoLight-boldItalic.fntdata"/><Relationship Id="rId14" Type="http://schemas.openxmlformats.org/officeDocument/2006/relationships/slide" Target="slides/slide8.xml"/><Relationship Id="rId58" Type="http://schemas.openxmlformats.org/officeDocument/2006/relationships/font" Target="fonts/RobotoMonoLight-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3ab20a5c2_5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3ab20a5c2_5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0969ba7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0969ba7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187c0211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187c0211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0969ba7c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0969ba7c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0f249152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0f249152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Queste sono le assunzioni che abbiamo per generare il derivation graph e gestire le CTMC</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0969ba7c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0969ba7c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Reminder: attivitò (\alpha, r), dove alpha è l’activity type e r l’activity rate, alpha è \tau se non ha un nome e non ci si può sincronizzare, il rate è \top se non è specificato </a:t>
            </a:r>
            <a:br>
              <a:rPr lang="it"/>
            </a:br>
            <a:r>
              <a:rPr lang="it"/>
              <a:t>Il rate ha distribuzione esponenziale con probabiility density function P[X&lt;=t] = ]1-e^{rate * 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18ba9dd4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18ba9dd4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 blocchi vengono proposti da un validatore e votati dagli altri nello stesso slot. Se un voto arriva tardi, si incorrono nelle penalità</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0969ba7c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0969ba7c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Teoricamente questo componente si sincronizza solamente sulla network per il primo slot in cui voto e sull’ultimo per determinare la fine </a:t>
            </a:r>
            <a:r>
              <a:rPr lang="it"/>
              <a:t>dell'epoca</a:t>
            </a:r>
            <a:r>
              <a:rPr lang="it"/>
              <a:t>. Questo lo facciamo perché assumiamo che i nostri validatori siano sempre scelti per votare nel primo slot e basta?</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(i guess) servono entrambi per sincronizzare, dal primo slot tutti (per noi uno solo) validator ricevono il blocco da verificare e hanno tempo fino al 32-esimo per dare una risposta</a:t>
            </a:r>
            <a:endParaRPr/>
          </a:p>
          <a:p>
            <a:pPr indent="0" lvl="0" marL="0" rtl="0" algn="l">
              <a:spcBef>
                <a:spcPts val="0"/>
              </a:spcBef>
              <a:spcAft>
                <a:spcPts val="0"/>
              </a:spcAft>
              <a:buNone/>
            </a:pPr>
            <a:r>
              <a:rPr lang="it"/>
              <a:t>same per il fair validator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18ba9dd4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18ba9dd4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Similmente alla slide precedente, fare notare che la parte finale con slot_vn serve per effettuare la sincronizzazione sulla fine dell’epoca, visto che è anche presente in entrambi i componenti VF e Delay</a:t>
            </a:r>
            <a:endParaRPr/>
          </a:p>
          <a:p>
            <a:pPr indent="0" lvl="0" marL="0" rtl="0" algn="l">
              <a:spcBef>
                <a:spcPts val="0"/>
              </a:spcBef>
              <a:spcAft>
                <a:spcPts val="0"/>
              </a:spcAft>
              <a:buNone/>
            </a:pPr>
            <a:r>
              <a:rPr lang="it"/>
              <a:t>δ -&gt; delta</a:t>
            </a:r>
            <a:endParaRPr/>
          </a:p>
          <a:p>
            <a:pPr indent="0" lvl="0" marL="0" rtl="0" algn="l">
              <a:spcBef>
                <a:spcPts val="0"/>
              </a:spcBef>
              <a:spcAft>
                <a:spcPts val="0"/>
              </a:spcAft>
              <a:buNone/>
            </a:pPr>
            <a:r>
              <a:rPr lang="it"/>
              <a:t>⍵ -&gt; omega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381ff2b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381ff2b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18ba9dd4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18ba9dd4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Fare notare che c’è anche la cooperazione con network per far girare il tutto correttamente.</a:t>
            </a:r>
            <a:br>
              <a:rPr lang="it"/>
            </a:br>
            <a:r>
              <a:rPr lang="it"/>
              <a:t>Notare che gli slot non sono solo 2, ma N in totale (specifichiamo dopo quando mettiamo in chiaro i parametri)</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Altra nota: slot_i verrà “separato” a metà in automatico da PEPA negli stati per fare analisi sullo “stato” intermedio in cui un </a:t>
            </a:r>
            <a:r>
              <a:rPr lang="it"/>
              <a:t>vérifier</a:t>
            </a:r>
            <a:r>
              <a:rPr lang="it"/>
              <a:t> va in delay ma riesce ad uscire da questo stato nello stesso slot </a:t>
            </a:r>
            <a:br>
              <a:rPr lang="it"/>
            </a:br>
            <a:r>
              <a:rPr lang="it"/>
              <a:t>-&gt; non abbiamo un mapping perfetto 1 ad 1 fra componenti e stati, obw</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0f249152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0f249152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0f249152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0f249152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Fare notare la divisione in due colonne, una per gli stati in delay e l’altra per quando non si è in delay. </a:t>
            </a:r>
            <a:endParaRPr/>
          </a:p>
          <a:p>
            <a:pPr indent="0" lvl="0" marL="0" rtl="0" algn="l">
              <a:spcBef>
                <a:spcPts val="0"/>
              </a:spcBef>
              <a:spcAft>
                <a:spcPts val="0"/>
              </a:spcAft>
              <a:buNone/>
            </a:pPr>
            <a:r>
              <a:rPr lang="it"/>
              <a:t>Fare notare lo “stato” intermedio che permette ad un VF di andare in delay ed uscirne nello stesso slot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0f249152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0f249152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Fare notare l’exit rate negato sulla diagonale, cosa che implica che i self loop non servano visto che il tempo di permanenza nello stesso stato è già incluso li</a:t>
            </a:r>
            <a:endParaRPr/>
          </a:p>
          <a:p>
            <a:pPr indent="0" lvl="0" marL="0" rtl="0" algn="l">
              <a:spcBef>
                <a:spcPts val="0"/>
              </a:spcBef>
              <a:spcAft>
                <a:spcPts val="0"/>
              </a:spcAft>
              <a:buNone/>
            </a:pPr>
            <a:r>
              <a:rPr lang="it"/>
              <a:t>Reminder che </a:t>
            </a:r>
            <a:r>
              <a:rPr b="1" lang="it"/>
              <a:t>l’exit rate è la somma di tutti i transition rate in uscita</a:t>
            </a:r>
            <a:r>
              <a:rPr lang="it"/>
              <a:t> da un certo stato</a:t>
            </a:r>
            <a:br>
              <a:rPr lang="it"/>
            </a:br>
            <a:r>
              <a:rPr lang="it"/>
              <a:t>Questa è la soluzione simbolica, dobbiamo fissare i parametri per fare le analisi</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18ba9dd4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18ba9dd4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L’1% di delay è un’assunzione un po’ pessimistica ma reale dovuta a problemi con la rete o validatori che passano più tempo a “pensare”</a:t>
            </a:r>
            <a:endParaRPr/>
          </a:p>
          <a:p>
            <a:pPr indent="0" lvl="0" marL="0" rtl="0" algn="l">
              <a:spcBef>
                <a:spcPts val="0"/>
              </a:spcBef>
              <a:spcAft>
                <a:spcPts val="0"/>
              </a:spcAft>
              <a:buNone/>
            </a:pPr>
            <a:r>
              <a:rPr lang="it"/>
              <a:t>Vediamo anche la formula per il calcolo delle reward, nel caso di RF abbiamo reward in orario, somma reward uscita delay prima fascia, somma reward uscita delay terza fascia e reward (negativa) su quarta fascia causa fine epoch</a:t>
            </a:r>
            <a:br>
              <a:rPr lang="it"/>
            </a:br>
            <a:r>
              <a:rPr lang="it"/>
              <a:t>-&gt; r_n sarebbe reward con delay fino allo slot n</a:t>
            </a:r>
            <a:endParaRPr/>
          </a:p>
          <a:p>
            <a:pPr indent="0" lvl="0" marL="0" rtl="0" algn="l">
              <a:spcBef>
                <a:spcPts val="0"/>
              </a:spcBef>
              <a:spcAft>
                <a:spcPts val="0"/>
              </a:spcAft>
              <a:buNone/>
            </a:pPr>
            <a:r>
              <a:rPr lang="it"/>
              <a:t>γ gamma</a:t>
            </a:r>
            <a:endParaRPr/>
          </a:p>
          <a:p>
            <a:pPr indent="0" lvl="0" marL="0" rtl="0" algn="l">
              <a:spcBef>
                <a:spcPts val="0"/>
              </a:spcBef>
              <a:spcAft>
                <a:spcPts val="0"/>
              </a:spcAft>
              <a:buNone/>
            </a:pPr>
            <a:r>
              <a:rPr lang="it"/>
              <a:t>ꞵ beta</a:t>
            </a:r>
            <a:endParaRPr/>
          </a:p>
          <a:p>
            <a:pPr indent="0" lvl="0" marL="0" rtl="0" algn="l">
              <a:spcBef>
                <a:spcPts val="0"/>
              </a:spcBef>
              <a:spcAft>
                <a:spcPts val="0"/>
              </a:spcAft>
              <a:buNone/>
            </a:pPr>
            <a:r>
              <a:rPr lang="it"/>
              <a:t>δ delta</a:t>
            </a:r>
            <a:endParaRPr/>
          </a:p>
          <a:p>
            <a:pPr indent="0" lvl="0" marL="0" rtl="0" algn="l">
              <a:spcBef>
                <a:spcPts val="0"/>
              </a:spcBef>
              <a:spcAft>
                <a:spcPts val="0"/>
              </a:spcAft>
              <a:buNone/>
            </a:pPr>
            <a:r>
              <a:rPr lang="it"/>
              <a:t>⍵ omega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18ba9dd4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18ba9dd4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 singoli valori delle steady state probability gli otteniamo settando la probability flux in </a:t>
            </a:r>
            <a:r>
              <a:rPr b="1" lang="it"/>
              <a:t>entrata</a:t>
            </a:r>
            <a:r>
              <a:rPr lang="it"/>
              <a:t> dello stato è uguale a quella in </a:t>
            </a:r>
            <a:r>
              <a:rPr b="1" lang="it"/>
              <a:t>uscita</a:t>
            </a:r>
            <a:r>
              <a:rPr lang="it"/>
              <a:t>, ovvero $$</a:t>
            </a:r>
            <a:r>
              <a:rPr lang="it">
                <a:solidFill>
                  <a:schemeClr val="dk1"/>
                </a:solidFill>
              </a:rPr>
              <a:t>\sum (\pi_j q_ji) = </a:t>
            </a:r>
            <a:r>
              <a:rPr lang="it"/>
              <a:t> \pi_i (\sum q_ij) $$</a:t>
            </a:r>
            <a:endParaRPr/>
          </a:p>
          <a:p>
            <a:pPr indent="0" lvl="0" marL="0" rtl="0" algn="l">
              <a:spcBef>
                <a:spcPts val="0"/>
              </a:spcBef>
              <a:spcAft>
                <a:spcPts val="0"/>
              </a:spcAft>
              <a:buNone/>
            </a:pPr>
            <a:r>
              <a:rPr lang="it"/>
              <a:t>Le global balance equation le otteniamo riarrangiando la formula precedente in $$\pi \times Q = 0$$, con Q l’infinitesimal generator matrix, a cui aggiungiamo (sostituzione riga) la </a:t>
            </a:r>
            <a:r>
              <a:rPr b="1" lang="it"/>
              <a:t>normalization condition</a:t>
            </a:r>
            <a:r>
              <a:rPr lang="it"/>
              <a:t> $$\sum \pi_i = 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1e99d8c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1e99d8c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Calcoliamo questa misura come la somma delle steady state probabilities degli stati che ci interessano, oppure la sommatoria delle stesse con pesi 0 o 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1e99d8c7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1e99d8c7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a:t>
            </a:r>
            <a:r>
              <a:rPr lang="it">
                <a:solidFill>
                  <a:schemeClr val="dk1"/>
                </a:solidFill>
              </a:rPr>
              <a:t>throughput </a:t>
            </a:r>
            <a:r>
              <a:rPr lang="it"/>
              <a:t>è la sommatoria delle steady state per il rate apparente di ogni stato interessato, ovvero z</a:t>
            </a:r>
            <a:endParaRPr/>
          </a:p>
          <a:p>
            <a:pPr indent="0" lvl="0" marL="0" rtl="0" algn="l">
              <a:spcBef>
                <a:spcPts val="0"/>
              </a:spcBef>
              <a:spcAft>
                <a:spcPts val="0"/>
              </a:spcAft>
              <a:buNone/>
            </a:pPr>
            <a:r>
              <a:rPr lang="it"/>
              <a:t>rho e’ la reward function, per il t</a:t>
            </a:r>
            <a:r>
              <a:rPr lang="it"/>
              <a:t>hroughput e’ settata al rate apparente</a:t>
            </a:r>
            <a:endParaRPr/>
          </a:p>
          <a:p>
            <a:pPr indent="0" lvl="0" marL="0" rtl="0" algn="l">
              <a:spcBef>
                <a:spcPts val="0"/>
              </a:spcBef>
              <a:spcAft>
                <a:spcPts val="0"/>
              </a:spcAft>
              <a:buNone/>
            </a:pPr>
            <a:r>
              <a:rPr lang="it"/>
              <a:t>dire che gli slots sono approssimabili a una catena, quindi il </a:t>
            </a:r>
            <a:r>
              <a:rPr lang="it">
                <a:solidFill>
                  <a:schemeClr val="dk1"/>
                </a:solidFill>
              </a:rPr>
              <a:t>throughput e’ sempre uguale.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1a99b5c4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1a99b5c4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Esattamente come il modello precedente, solo che abbiamo i parametri come variabili</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1a99b5c4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1a99b5c4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Dire che l’unfair ha sempre il massimo (non si basa su w)</a:t>
            </a:r>
            <a:endParaRPr/>
          </a:p>
          <a:p>
            <a:pPr indent="0" lvl="0" marL="0" rtl="0" algn="l">
              <a:spcBef>
                <a:spcPts val="0"/>
              </a:spcBef>
              <a:spcAft>
                <a:spcPts val="0"/>
              </a:spcAft>
              <a:buNone/>
            </a:pPr>
            <a:r>
              <a:rPr lang="it"/>
              <a:t>scenario 3 e 4 il delay ha meno impatto -&gt; la reward massima è data non solo al primo slot, ma anche al secondo e terzo</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20e15f1b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20e15f1b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0969ba7c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b0969ba7c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0969ba7c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b0969ba7c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Dire che Punish non viene applicato ai fair validator, perché verificano effettivamente i blocchi prima di castare il voto</a:t>
            </a:r>
            <a:endParaRPr/>
          </a:p>
          <a:p>
            <a:pPr indent="0" lvl="0" marL="0" rtl="0" algn="l">
              <a:spcBef>
                <a:spcPts val="0"/>
              </a:spcBef>
              <a:spcAft>
                <a:spcPts val="0"/>
              </a:spcAft>
              <a:buNone/>
            </a:pPr>
            <a:r>
              <a:rPr lang="it"/>
              <a:t>η eta -&gt; rate di punishment dell’unfair validator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20e15f1b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20e15f1b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Possiamo vedere come siano </a:t>
            </a:r>
            <a:r>
              <a:rPr lang="it"/>
              <a:t>pressoché</a:t>
            </a:r>
            <a:r>
              <a:rPr lang="it"/>
              <a:t> identiche, solo che nella seconda per il punish abbiamo dei valori di punish basati sul numero di slot rimanenti</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20e15f1b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20e15f1b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20e15f1b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20e15f1b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b2cfd5068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b2cfd5068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Dire che dal paper la partizione proposta ha stati che si sovrappongono, quindi è sbagliata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2cfd5068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b2cfd5068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3602b58e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b3602b58e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2cfd5068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2cfd5068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Fare notare la proprietà </a:t>
            </a:r>
            <a:r>
              <a:rPr b="1" lang="it"/>
              <a:t>principale</a:t>
            </a:r>
            <a:r>
              <a:rPr b="1" lang="it"/>
              <a:t> ovvero che la steady state del macro-state è pari alla somma delle singole steady state probability degli stati che la compongono.</a:t>
            </a:r>
            <a:endParaRPr b="1"/>
          </a:p>
          <a:p>
            <a:pPr indent="0" lvl="0" marL="0" rtl="0" algn="l">
              <a:spcBef>
                <a:spcPts val="0"/>
              </a:spcBef>
              <a:spcAft>
                <a:spcPts val="0"/>
              </a:spcAft>
              <a:buNone/>
            </a:pPr>
            <a:r>
              <a:rPr b="1" lang="it"/>
              <a:t>Notare come i rate da mettere nella CTMC aggregata siano la somma dei rate della CTMC precedente</a:t>
            </a:r>
            <a:endParaRPr b="1"/>
          </a:p>
          <a:p>
            <a:pPr indent="0" lvl="0" marL="0" rtl="0" algn="l">
              <a:spcBef>
                <a:spcPts val="0"/>
              </a:spcBef>
              <a:spcAft>
                <a:spcPts val="0"/>
              </a:spcAft>
              <a:buNone/>
            </a:pPr>
            <a:r>
              <a:rPr lang="it"/>
              <a:t>Abbiamo anche che i transition rate che mettiamo nella CTMC “aggregata” saranno la somma dei rate in uscita (e.g. quelli in rosso o quelli blu visto che sono uguali)</a:t>
            </a:r>
            <a:endParaRPr/>
          </a:p>
          <a:p>
            <a:pPr indent="0" lvl="0" marL="0" rtl="0" algn="l">
              <a:spcBef>
                <a:spcPts val="0"/>
              </a:spcBef>
              <a:spcAft>
                <a:spcPts val="0"/>
              </a:spcAft>
              <a:buClr>
                <a:schemeClr val="dk1"/>
              </a:buClr>
              <a:buSzPts val="1100"/>
              <a:buFont typeface="Arial"/>
              <a:buNone/>
            </a:pPr>
            <a:r>
              <a:rPr lang="it">
                <a:solidFill>
                  <a:schemeClr val="dk1"/>
                </a:solidFill>
              </a:rPr>
              <a:t>γ gamma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ꞵ beta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δ delta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omega</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5dc4e2a5d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b5dc4e2a5d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L’exact lumpability ci dice che la steady state degli stati di una singola classe è tutta uguale</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γ gamma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ꞵ beta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δ delta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omega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b5dc4e2a5d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b5dc4e2a5d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γ gamma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ꞵ beta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δ delta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omega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5dc4e2a5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b5dc4e2a5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b2cfd5068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b2cfd5068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L’exact lumpability ci dice che la steady state degli stati di una singola classe è tutta uguale</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γ gamma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ꞵ beta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δ delta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omega</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2cfd5068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2cfd5068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2cfd5068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2cfd5068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Dire che con “untouched” vogliamo intendere che non ne vengono rimosse/aggregate alcune, semplicemente non sono mostrate le label</a:t>
            </a:r>
            <a:endParaRPr/>
          </a:p>
          <a:p>
            <a:pPr indent="0" lvl="0" marL="0" rtl="0" algn="l">
              <a:spcBef>
                <a:spcPts val="0"/>
              </a:spcBef>
              <a:spcAft>
                <a:spcPts val="0"/>
              </a:spcAft>
              <a:buNone/>
            </a:pPr>
            <a:r>
              <a:rPr lang="it">
                <a:solidFill>
                  <a:schemeClr val="dk1"/>
                </a:solidFill>
              </a:rPr>
              <a:t>⍵ omega</a:t>
            </a:r>
            <a:endParaRPr>
              <a:solidFill>
                <a:schemeClr val="dk1"/>
              </a:solidFill>
            </a:endParaRPr>
          </a:p>
          <a:p>
            <a:pPr indent="0" lvl="0" marL="0" rtl="0" algn="l">
              <a:spcBef>
                <a:spcPts val="0"/>
              </a:spcBef>
              <a:spcAft>
                <a:spcPts val="0"/>
              </a:spcAft>
              <a:buNone/>
            </a:pPr>
            <a:r>
              <a:rPr lang="it">
                <a:solidFill>
                  <a:schemeClr val="dk1"/>
                </a:solidFill>
              </a:rPr>
              <a:t>ꞵ beta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γ gamma</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δ delta</a:t>
            </a:r>
            <a:endParaRPr>
              <a:solidFill>
                <a:schemeClr val="dk1"/>
              </a:solidFill>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2ee94b2b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b2ee94b2b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2cfd5068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b2cfd5068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Bisimilar/strong equivalence:</a:t>
            </a:r>
            <a:r>
              <a:rPr lang="it"/>
              <a:t> osservando dall’esterno due sistemi essi sembrano avere un comportamento equivalente (bissimilar guarderebbe le label delle transizioni che fa il sistema / guarda le </a:t>
            </a:r>
            <a:r>
              <a:rPr b="1" lang="it"/>
              <a:t>trace</a:t>
            </a:r>
            <a:r>
              <a:rPr lang="it"/>
              <a:t>, </a:t>
            </a:r>
            <a:r>
              <a:rPr b="1" lang="it"/>
              <a:t>strong equivalence più i rate</a:t>
            </a:r>
            <a:r>
              <a:rPr lang="it"/>
              <a:t>)</a:t>
            </a:r>
            <a:br>
              <a:rPr lang="it"/>
            </a:br>
            <a:r>
              <a:rPr lang="it"/>
              <a:t>Sono uguali se facessimo finta di non sapere dell’esistenza del punish e “proiettassimo graficamente” in modo da sovrapporre i due stati di punish</a:t>
            </a:r>
            <a:endParaRPr/>
          </a:p>
          <a:p>
            <a:pPr indent="0" lvl="0" marL="0" rtl="0" algn="l">
              <a:spcBef>
                <a:spcPts val="0"/>
              </a:spcBef>
              <a:spcAft>
                <a:spcPts val="0"/>
              </a:spcAft>
              <a:buNone/>
            </a:pPr>
            <a:r>
              <a:rPr lang="it"/>
              <a:t>Data un’equivalence relation R = C x C, dove C è il set di tutti gli stati possibili e R un “modo” di raggrupparli, se due stati (P,Q)\in R sono equivalenti per ogni action type “a” e per una certa classe S abbiamo che il transition rate con label a dallo stato P alla classe S con action alpha è uguale al transition rate dallo stato Q alla classe S con action type alpha.</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Trace equivalence: compara solo le realizzazioni, non distingue fra deadlock</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0ba80ea7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b0ba80ea7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b0ba80ea7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b0ba80ea7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0ba80ea7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b0ba80ea7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b0ba80ea7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b0ba80ea7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b0ba80ea7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b0ba80ea7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0ba80ea7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b0ba80ea7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26.png"/><Relationship Id="rId6" Type="http://schemas.openxmlformats.org/officeDocument/2006/relationships/image" Target="../media/image22.png"/><Relationship Id="rId7"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24.png"/><Relationship Id="rId7" Type="http://schemas.openxmlformats.org/officeDocument/2006/relationships/image" Target="../media/image23.png"/><Relationship Id="rId8"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33.png"/><Relationship Id="rId5"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2.png"/><Relationship Id="rId4" Type="http://schemas.openxmlformats.org/officeDocument/2006/relationships/image" Target="../media/image39.png"/><Relationship Id="rId5" Type="http://schemas.openxmlformats.org/officeDocument/2006/relationships/image" Target="../media/image41.png"/><Relationship Id="rId6" Type="http://schemas.openxmlformats.org/officeDocument/2006/relationships/image" Target="../media/image43.png"/><Relationship Id="rId7" Type="http://schemas.openxmlformats.org/officeDocument/2006/relationships/image" Target="../media/image50.png"/><Relationship Id="rId8" Type="http://schemas.openxmlformats.org/officeDocument/2006/relationships/image" Target="../media/image5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1.png"/><Relationship Id="rId4" Type="http://schemas.openxmlformats.org/officeDocument/2006/relationships/image" Target="../media/image47.png"/><Relationship Id="rId5" Type="http://schemas.openxmlformats.org/officeDocument/2006/relationships/image" Target="../media/image49.png"/><Relationship Id="rId6" Type="http://schemas.openxmlformats.org/officeDocument/2006/relationships/image" Target="../media/image53.png"/><Relationship Id="rId7"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6.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61.png"/><Relationship Id="rId7" Type="http://schemas.openxmlformats.org/officeDocument/2006/relationships/image" Target="../media/image60.png"/><Relationship Id="rId8" Type="http://schemas.openxmlformats.org/officeDocument/2006/relationships/image" Target="../media/image5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1.png"/><Relationship Id="rId4" Type="http://schemas.openxmlformats.org/officeDocument/2006/relationships/image" Target="../media/image47.png"/><Relationship Id="rId5" Type="http://schemas.openxmlformats.org/officeDocument/2006/relationships/image" Target="../media/image49.png"/><Relationship Id="rId6" Type="http://schemas.openxmlformats.org/officeDocument/2006/relationships/image" Target="../media/image53.png"/><Relationship Id="rId7"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61.png"/><Relationship Id="rId7" Type="http://schemas.openxmlformats.org/officeDocument/2006/relationships/image" Target="../media/image60.png"/><Relationship Id="rId8"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5.png"/><Relationship Id="rId4" Type="http://schemas.openxmlformats.org/officeDocument/2006/relationships/image" Target="../media/image14.png"/><Relationship Id="rId5"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67.png"/><Relationship Id="rId4" Type="http://schemas.openxmlformats.org/officeDocument/2006/relationships/image" Target="../media/image64.png"/><Relationship Id="rId5" Type="http://schemas.openxmlformats.org/officeDocument/2006/relationships/image" Target="../media/image62.png"/><Relationship Id="rId6" Type="http://schemas.openxmlformats.org/officeDocument/2006/relationships/image" Target="../media/image68.png"/><Relationship Id="rId7" Type="http://schemas.openxmlformats.org/officeDocument/2006/relationships/image" Target="../media/image35.png"/><Relationship Id="rId8"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7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9.png"/><Relationship Id="rId4" Type="http://schemas.openxmlformats.org/officeDocument/2006/relationships/image" Target="../media/image71.png"/><Relationship Id="rId5" Type="http://schemas.openxmlformats.org/officeDocument/2006/relationships/image" Target="../media/image70.png"/><Relationship Id="rId6" Type="http://schemas.openxmlformats.org/officeDocument/2006/relationships/image" Target="../media/image7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image" Target="../media/image76.png"/><Relationship Id="rId6"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75.png"/><Relationship Id="rId6" Type="http://schemas.openxmlformats.org/officeDocument/2006/relationships/image" Target="../media/image7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2.png"/><Relationship Id="rId4" Type="http://schemas.openxmlformats.org/officeDocument/2006/relationships/image" Target="../media/image8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it"/>
              <a:t>Mitigation of the Verifier’s Dilemma in Proof-of-Stake Ethereum Blockchain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Introduction</a:t>
            </a:r>
            <a:endParaRPr/>
          </a:p>
        </p:txBody>
      </p:sp>
      <p:sp>
        <p:nvSpPr>
          <p:cNvPr id="65" name="Google Shape;65;p14"/>
          <p:cNvSpPr txBox="1"/>
          <p:nvPr>
            <p:ph idx="1" type="body"/>
          </p:nvPr>
        </p:nvSpPr>
        <p:spPr>
          <a:xfrm>
            <a:off x="311700" y="101772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Blockchain technology has become an integral component of modern digital infrastructures, extending far beyond its initial use in cryptocurrencies, for example, with the use of smart contracts. </a:t>
            </a:r>
            <a:endParaRPr/>
          </a:p>
          <a:p>
            <a:pPr indent="0" lvl="0" marL="0" rtl="0" algn="l">
              <a:spcBef>
                <a:spcPts val="1200"/>
              </a:spcBef>
              <a:spcAft>
                <a:spcPts val="0"/>
              </a:spcAft>
              <a:buNone/>
            </a:pPr>
            <a:r>
              <a:rPr lang="it"/>
              <a:t>In 2022, Ethereum completed its transition from the Proof-of-Work (PoW) consensus protocol to the more energy-efficient and economically grounded </a:t>
            </a:r>
            <a:r>
              <a:rPr b="1" lang="it"/>
              <a:t>Proof-of-Stake (PoS)</a:t>
            </a:r>
            <a:r>
              <a:rPr lang="it"/>
              <a:t> mechanism. </a:t>
            </a:r>
            <a:endParaRPr/>
          </a:p>
          <a:p>
            <a:pPr indent="0" lvl="0" marL="0" rtl="0" algn="l">
              <a:spcBef>
                <a:spcPts val="1200"/>
              </a:spcBef>
              <a:spcAft>
                <a:spcPts val="1200"/>
              </a:spcAft>
              <a:buNone/>
            </a:pPr>
            <a:r>
              <a:rPr lang="it"/>
              <a:t>Under PoS, validators replace miners and are responsible for verifying and attesting the correctness of newly proposed blocks. Their participation is economically incentivized through </a:t>
            </a:r>
            <a:r>
              <a:rPr b="1" lang="it"/>
              <a:t>rewards and penalties</a:t>
            </a:r>
            <a:r>
              <a:rPr lang="it"/>
              <a:t> tied to their voting behavior.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idx="1" type="body"/>
          </p:nvPr>
        </p:nvSpPr>
        <p:spPr>
          <a:xfrm>
            <a:off x="311700" y="107170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it" sz="1829"/>
              <a:t>Ethereum’s new PoS consensus introduces a critical issue known as the </a:t>
            </a:r>
            <a:r>
              <a:rPr b="1" lang="it" sz="1829"/>
              <a:t>Verifier’s Dilemma.</a:t>
            </a:r>
            <a:endParaRPr b="1" sz="1829"/>
          </a:p>
          <a:p>
            <a:pPr indent="0" lvl="0" marL="0" rtl="0" algn="l">
              <a:lnSpc>
                <a:spcPct val="95000"/>
              </a:lnSpc>
              <a:spcBef>
                <a:spcPts val="1200"/>
              </a:spcBef>
              <a:spcAft>
                <a:spcPts val="0"/>
              </a:spcAft>
              <a:buSzPts val="935"/>
              <a:buNone/>
            </a:pPr>
            <a:r>
              <a:rPr lang="it" sz="1829"/>
              <a:t>Validators are expected to verify each block before attesting to its validity, </a:t>
            </a:r>
            <a:r>
              <a:rPr lang="it" sz="1829"/>
              <a:t>which is </a:t>
            </a:r>
            <a:r>
              <a:rPr lang="it" sz="1829"/>
              <a:t>time-consuming due to:</a:t>
            </a:r>
            <a:endParaRPr sz="1829"/>
          </a:p>
          <a:p>
            <a:pPr indent="-344805" lvl="0" marL="457200" rtl="0" algn="l">
              <a:lnSpc>
                <a:spcPct val="95000"/>
              </a:lnSpc>
              <a:spcBef>
                <a:spcPts val="1200"/>
              </a:spcBef>
              <a:spcAft>
                <a:spcPts val="0"/>
              </a:spcAft>
              <a:buSzPts val="1830"/>
              <a:buChar char="●"/>
            </a:pPr>
            <a:r>
              <a:rPr lang="it" sz="1829"/>
              <a:t>execution of complex smart contracts</a:t>
            </a:r>
            <a:endParaRPr sz="1829"/>
          </a:p>
          <a:p>
            <a:pPr indent="-344805" lvl="0" marL="457200" rtl="0" algn="l">
              <a:lnSpc>
                <a:spcPct val="95000"/>
              </a:lnSpc>
              <a:spcBef>
                <a:spcPts val="0"/>
              </a:spcBef>
              <a:spcAft>
                <a:spcPts val="0"/>
              </a:spcAft>
              <a:buSzPts val="1830"/>
              <a:buChar char="●"/>
            </a:pPr>
            <a:r>
              <a:rPr lang="it" sz="1829"/>
              <a:t>unpredictable network conditions</a:t>
            </a:r>
            <a:endParaRPr sz="1829"/>
          </a:p>
          <a:p>
            <a:pPr indent="-344805" lvl="0" marL="457200" rtl="0" algn="l">
              <a:lnSpc>
                <a:spcPct val="95000"/>
              </a:lnSpc>
              <a:spcBef>
                <a:spcPts val="0"/>
              </a:spcBef>
              <a:spcAft>
                <a:spcPts val="0"/>
              </a:spcAft>
              <a:buSzPts val="1830"/>
              <a:buChar char="●"/>
            </a:pPr>
            <a:r>
              <a:rPr lang="it" sz="1829"/>
              <a:t>strict timing requirements imposed by slot-based attestation.</a:t>
            </a:r>
            <a:endParaRPr sz="1829"/>
          </a:p>
          <a:p>
            <a:pPr indent="0" lvl="0" marL="0" rtl="0" algn="l">
              <a:lnSpc>
                <a:spcPct val="95000"/>
              </a:lnSpc>
              <a:spcBef>
                <a:spcPts val="1200"/>
              </a:spcBef>
              <a:spcAft>
                <a:spcPts val="1200"/>
              </a:spcAft>
              <a:buSzPts val="935"/>
              <a:buNone/>
            </a:pPr>
            <a:r>
              <a:rPr lang="it" sz="1829"/>
              <a:t>Delayed attestations result in reduced rewards, or even penalties, which </a:t>
            </a:r>
            <a:r>
              <a:rPr lang="it" sz="1829"/>
              <a:t>incentivizes </a:t>
            </a:r>
            <a:r>
              <a:rPr lang="it" sz="1829"/>
              <a:t>validators to </a:t>
            </a:r>
            <a:r>
              <a:rPr b="1" lang="it" sz="1829"/>
              <a:t>skip block verification</a:t>
            </a:r>
            <a:r>
              <a:rPr lang="it" sz="1829"/>
              <a:t> to cast their vote immediately, which is detrimental to global network security, as it increases the likelihood of the acceptance of invalid / malicious blocks.</a:t>
            </a:r>
            <a:endParaRPr sz="1829"/>
          </a:p>
        </p:txBody>
      </p:sp>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Analysis of the Verifier’s Dilemma in PoS</a:t>
            </a:r>
            <a:endParaRPr/>
          </a:p>
          <a:p>
            <a:pPr indent="0" lvl="0" marL="0" marR="0" rtl="0" algn="l">
              <a:lnSpc>
                <a:spcPct val="100000"/>
              </a:lnSpc>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311700" y="107170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it" sz="1829"/>
              <a:t>The given rewards get fractioned based on the slot delay that a validator required</a:t>
            </a:r>
            <a:endParaRPr sz="1829"/>
          </a:p>
          <a:p>
            <a:pPr indent="0" lvl="0" marL="0" rtl="0" algn="l">
              <a:lnSpc>
                <a:spcPct val="95000"/>
              </a:lnSpc>
              <a:spcBef>
                <a:spcPts val="1200"/>
              </a:spcBef>
              <a:spcAft>
                <a:spcPts val="1200"/>
              </a:spcAft>
              <a:buSzPts val="935"/>
              <a:buNone/>
            </a:pPr>
            <a:r>
              <a:rPr lang="it" sz="1829"/>
              <a:t>to validate the proposed block. </a:t>
            </a:r>
            <a:endParaRPr sz="1829"/>
          </a:p>
        </p:txBody>
      </p:sp>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Analysis of the Verifier’s Dilemma in PoS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78" name="Google Shape;78;p16"/>
          <p:cNvGraphicFramePr/>
          <p:nvPr/>
        </p:nvGraphicFramePr>
        <p:xfrm>
          <a:off x="311700" y="2013124"/>
          <a:ext cx="3000000" cy="3000000"/>
        </p:xfrm>
        <a:graphic>
          <a:graphicData uri="http://schemas.openxmlformats.org/drawingml/2006/table">
            <a:tbl>
              <a:tblPr>
                <a:noFill/>
                <a:tableStyleId>{B61CD78A-1505-4454-8DDA-799284A9CF8D}</a:tableStyleId>
              </a:tblPr>
              <a:tblGrid>
                <a:gridCol w="1749125"/>
                <a:gridCol w="1683200"/>
              </a:tblGrid>
              <a:tr h="381000">
                <a:tc>
                  <a:txBody>
                    <a:bodyPr/>
                    <a:lstStyle/>
                    <a:p>
                      <a:pPr indent="0" lvl="0" marL="0" rtl="0" algn="l">
                        <a:spcBef>
                          <a:spcPts val="0"/>
                        </a:spcBef>
                        <a:spcAft>
                          <a:spcPts val="0"/>
                        </a:spcAft>
                        <a:buNone/>
                      </a:pPr>
                      <a:r>
                        <a:rPr b="1" lang="it">
                          <a:latin typeface="Proxima Nova"/>
                          <a:ea typeface="Proxima Nova"/>
                          <a:cs typeface="Proxima Nova"/>
                          <a:sym typeface="Proxima Nova"/>
                        </a:rPr>
                        <a:t>Vote Delay</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it">
                          <a:latin typeface="Proxima Nova"/>
                          <a:ea typeface="Proxima Nova"/>
                          <a:cs typeface="Proxima Nova"/>
                          <a:sym typeface="Proxima Nova"/>
                        </a:rPr>
                        <a:t>Reward Fraction</a:t>
                      </a:r>
                      <a:endParaRPr b="1">
                        <a:latin typeface="Proxima Nova"/>
                        <a:ea typeface="Proxima Nova"/>
                        <a:cs typeface="Proxima Nova"/>
                        <a:sym typeface="Proxima Nova"/>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1 slot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0.844</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1 &lt; delay ≤ 5 slots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0.625</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5 &lt; delay ≤ 32 slots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0.187</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      </a:t>
                      </a:r>
                      <a:r>
                        <a:rPr lang="it">
                          <a:latin typeface="Proxima Nova"/>
                          <a:ea typeface="Proxima Nova"/>
                          <a:cs typeface="Proxima Nova"/>
                          <a:sym typeface="Proxima Nova"/>
                        </a:rPr>
                        <a:t>delay &gt; 32 slots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a:t>
                      </a:r>
                      <a:r>
                        <a:rPr lang="it">
                          <a:latin typeface="Roboto Mono"/>
                          <a:ea typeface="Roboto Mono"/>
                          <a:cs typeface="Roboto Mono"/>
                          <a:sym typeface="Roboto Mono"/>
                        </a:rPr>
                        <a:t>0.625</a:t>
                      </a:r>
                      <a:endParaRPr>
                        <a:latin typeface="Roboto Mono"/>
                        <a:ea typeface="Roboto Mono"/>
                        <a:cs typeface="Roboto Mono"/>
                        <a:sym typeface="Roboto Mono"/>
                      </a:endParaRPr>
                    </a:p>
                  </a:txBody>
                  <a:tcPr marT="91425" marB="91425" marR="91425" marL="91425"/>
                </a:tc>
              </a:tr>
            </a:tbl>
          </a:graphicData>
        </a:graphic>
      </p:graphicFrame>
      <p:pic>
        <p:nvPicPr>
          <p:cNvPr id="79" name="Google Shape;79;p16"/>
          <p:cNvPicPr preferRelativeResize="0"/>
          <p:nvPr/>
        </p:nvPicPr>
        <p:blipFill>
          <a:blip r:embed="rId3">
            <a:alphaModFix/>
          </a:blip>
          <a:stretch>
            <a:fillRect/>
          </a:stretch>
        </p:blipFill>
        <p:spPr>
          <a:xfrm>
            <a:off x="3885025" y="1944625"/>
            <a:ext cx="5095176" cy="2827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Modelling Approach</a:t>
            </a:r>
            <a:endParaRPr/>
          </a:p>
        </p:txBody>
      </p:sp>
      <p:sp>
        <p:nvSpPr>
          <p:cNvPr id="85" name="Google Shape;85;p17"/>
          <p:cNvSpPr txBox="1"/>
          <p:nvPr>
            <p:ph idx="1" type="body"/>
          </p:nvPr>
        </p:nvSpPr>
        <p:spPr>
          <a:xfrm>
            <a:off x="311700" y="107170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it" sz="1829"/>
              <a:t>To analyze this phenomenon, we </a:t>
            </a:r>
            <a:r>
              <a:rPr lang="it" sz="1829"/>
              <a:t>leveraged</a:t>
            </a:r>
            <a:r>
              <a:rPr lang="it" sz="1829"/>
              <a:t> a formal model based on the Performance Evaluation Process Algebra (PEPA) to capture </a:t>
            </a:r>
            <a:r>
              <a:rPr lang="it" sz="1829"/>
              <a:t>the distinction between</a:t>
            </a:r>
            <a:r>
              <a:rPr lang="it" sz="1829"/>
              <a:t>:</a:t>
            </a:r>
            <a:endParaRPr sz="1829"/>
          </a:p>
          <a:p>
            <a:pPr indent="-344805" lvl="0" marL="457200" rtl="0" algn="l">
              <a:lnSpc>
                <a:spcPct val="95000"/>
              </a:lnSpc>
              <a:spcBef>
                <a:spcPts val="1200"/>
              </a:spcBef>
              <a:spcAft>
                <a:spcPts val="0"/>
              </a:spcAft>
              <a:buSzPts val="1830"/>
              <a:buChar char="●"/>
            </a:pPr>
            <a:r>
              <a:rPr lang="it" sz="1829"/>
              <a:t>fair validators, who always verify before voting and </a:t>
            </a:r>
            <a:r>
              <a:rPr lang="it" sz="1829"/>
              <a:t>incur</a:t>
            </a:r>
            <a:r>
              <a:rPr lang="it" sz="1829"/>
              <a:t> in voting delays</a:t>
            </a:r>
            <a:endParaRPr sz="1829"/>
          </a:p>
          <a:p>
            <a:pPr indent="-344805" lvl="0" marL="457200" rtl="0" algn="l">
              <a:lnSpc>
                <a:spcPct val="95000"/>
              </a:lnSpc>
              <a:spcBef>
                <a:spcPts val="0"/>
              </a:spcBef>
              <a:spcAft>
                <a:spcPts val="0"/>
              </a:spcAft>
              <a:buSzPts val="1830"/>
              <a:buChar char="●"/>
            </a:pPr>
            <a:r>
              <a:rPr lang="it" sz="1829"/>
              <a:t>unfair validators, who vote without verification to maximize rewards</a:t>
            </a:r>
            <a:endParaRPr sz="1829"/>
          </a:p>
          <a:p>
            <a:pPr indent="-344805" lvl="0" marL="457200" rtl="0" algn="l">
              <a:lnSpc>
                <a:spcPct val="95000"/>
              </a:lnSpc>
              <a:spcBef>
                <a:spcPts val="0"/>
              </a:spcBef>
              <a:spcAft>
                <a:spcPts val="0"/>
              </a:spcAft>
              <a:buSzPts val="1830"/>
              <a:buChar char="●"/>
            </a:pPr>
            <a:r>
              <a:rPr lang="it" sz="1829"/>
              <a:t>the reward/penalty policies defined by Ethereum PoS</a:t>
            </a:r>
            <a:endParaRPr sz="1829"/>
          </a:p>
          <a:p>
            <a:pPr indent="0" lvl="0" marL="0" rtl="0" algn="l">
              <a:lnSpc>
                <a:spcPct val="95000"/>
              </a:lnSpc>
              <a:spcBef>
                <a:spcPts val="1200"/>
              </a:spcBef>
              <a:spcAft>
                <a:spcPts val="1200"/>
              </a:spcAft>
              <a:buSzPts val="935"/>
              <a:buNone/>
            </a:pPr>
            <a:r>
              <a:rPr lang="it" sz="1829"/>
              <a:t>Through the associated Continuous Time Markov Chain (CTMC), we’ll compute the steady-state probabilities and derive expected reward fractions for fair and unfair validators across several scenarios.</a:t>
            </a:r>
            <a:endParaRPr sz="1829"/>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 Assumptions</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We assume to have Continuous Time Markov Chains such that they are:</a:t>
            </a:r>
            <a:endParaRPr/>
          </a:p>
          <a:p>
            <a:pPr indent="-342900" lvl="0" marL="457200" rtl="0" algn="l">
              <a:spcBef>
                <a:spcPts val="1200"/>
              </a:spcBef>
              <a:spcAft>
                <a:spcPts val="0"/>
              </a:spcAft>
              <a:buSzPts val="1800"/>
              <a:buChar char="●"/>
            </a:pPr>
            <a:r>
              <a:rPr b="1" lang="it"/>
              <a:t>T</a:t>
            </a:r>
            <a:r>
              <a:rPr b="1" lang="it"/>
              <a:t>ime Homogeneous: </a:t>
            </a:r>
            <a:r>
              <a:rPr lang="it"/>
              <a:t>transitions are independent from the observation time</a:t>
            </a:r>
            <a:endParaRPr/>
          </a:p>
          <a:p>
            <a:pPr indent="0" lvl="0" marL="457200" rtl="0" algn="l">
              <a:spcBef>
                <a:spcPts val="1200"/>
              </a:spcBef>
              <a:spcAft>
                <a:spcPts val="0"/>
              </a:spcAft>
              <a:buNone/>
            </a:pPr>
            <a:r>
              <a:t/>
            </a:r>
            <a:endParaRPr b="1"/>
          </a:p>
          <a:p>
            <a:pPr indent="-342900" lvl="0" marL="457200" rtl="0" algn="l">
              <a:spcBef>
                <a:spcPts val="1200"/>
              </a:spcBef>
              <a:spcAft>
                <a:spcPts val="0"/>
              </a:spcAft>
              <a:buSzPts val="1800"/>
              <a:buChar char="●"/>
            </a:pPr>
            <a:r>
              <a:rPr b="1" lang="it"/>
              <a:t>Irreducible:</a:t>
            </a:r>
            <a:r>
              <a:rPr lang="it"/>
              <a:t> every state can be reached from any other state</a:t>
            </a:r>
            <a:endParaRPr b="1"/>
          </a:p>
          <a:p>
            <a:pPr indent="-342900" lvl="0" marL="457200" rtl="0" algn="l">
              <a:spcBef>
                <a:spcPts val="0"/>
              </a:spcBef>
              <a:spcAft>
                <a:spcPts val="0"/>
              </a:spcAft>
              <a:buSzPts val="1800"/>
              <a:buChar char="●"/>
            </a:pPr>
            <a:r>
              <a:rPr b="1" lang="it"/>
              <a:t>Ergodic: </a:t>
            </a:r>
            <a:r>
              <a:rPr lang="it"/>
              <a:t>for each node, there exists a finite path that returns to itself</a:t>
            </a:r>
            <a:endParaRPr/>
          </a:p>
          <a:p>
            <a:pPr indent="0" lvl="0" marL="0" rtl="0" algn="l">
              <a:spcBef>
                <a:spcPts val="1200"/>
              </a:spcBef>
              <a:spcAft>
                <a:spcPts val="1200"/>
              </a:spcAft>
              <a:buNone/>
            </a:pPr>
            <a:r>
              <a:t/>
            </a:r>
            <a:endParaRPr/>
          </a:p>
        </p:txBody>
      </p:sp>
      <p:pic>
        <p:nvPicPr>
          <p:cNvPr id="92" name="Google Shape;92;p18"/>
          <p:cNvPicPr preferRelativeResize="0"/>
          <p:nvPr/>
        </p:nvPicPr>
        <p:blipFill>
          <a:blip r:embed="rId3">
            <a:alphaModFix/>
          </a:blip>
          <a:stretch>
            <a:fillRect/>
          </a:stretch>
        </p:blipFill>
        <p:spPr>
          <a:xfrm>
            <a:off x="2195513" y="2167500"/>
            <a:ext cx="4752975" cy="266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Components and their Interactions</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None/>
            </a:pPr>
            <a:r>
              <a:rPr lang="it">
                <a:solidFill>
                  <a:srgbClr val="666666"/>
                </a:solidFill>
                <a:latin typeface="Arial"/>
                <a:ea typeface="Arial"/>
                <a:cs typeface="Arial"/>
                <a:sym typeface="Arial"/>
              </a:rPr>
              <a:t>We identified the following components, i.e., the active units within the system that do some activities given by the activity type in a specified time given by the activity rate while, usually, cooperating with other activities.</a:t>
            </a:r>
            <a:endParaRPr>
              <a:solidFill>
                <a:srgbClr val="666666"/>
              </a:solidFill>
              <a:latin typeface="Arial"/>
              <a:ea typeface="Arial"/>
              <a:cs typeface="Arial"/>
              <a:sym typeface="Arial"/>
            </a:endParaRPr>
          </a:p>
          <a:p>
            <a:pPr indent="-342900" lvl="0" marL="457200" rtl="0" algn="l">
              <a:spcBef>
                <a:spcPts val="2400"/>
              </a:spcBef>
              <a:spcAft>
                <a:spcPts val="0"/>
              </a:spcAft>
              <a:buClr>
                <a:srgbClr val="666666"/>
              </a:buClr>
              <a:buSzPts val="1800"/>
              <a:buFont typeface="Arial"/>
              <a:buChar char="●"/>
            </a:pPr>
            <a:r>
              <a:rPr lang="it">
                <a:solidFill>
                  <a:srgbClr val="666666"/>
                </a:solidFill>
                <a:latin typeface="Arial"/>
                <a:ea typeface="Arial"/>
                <a:cs typeface="Arial"/>
                <a:sym typeface="Arial"/>
              </a:rPr>
              <a:t>Slot Component (Slot_i)</a:t>
            </a:r>
            <a:endParaRPr>
              <a:solidFill>
                <a:srgbClr val="666666"/>
              </a:solidFill>
              <a:latin typeface="Arial"/>
              <a:ea typeface="Arial"/>
              <a:cs typeface="Arial"/>
              <a:sym typeface="Arial"/>
            </a:endParaRPr>
          </a:p>
          <a:p>
            <a:pPr indent="-342900" lvl="0" marL="457200" rtl="0" algn="l">
              <a:spcBef>
                <a:spcPts val="0"/>
              </a:spcBef>
              <a:spcAft>
                <a:spcPts val="0"/>
              </a:spcAft>
              <a:buClr>
                <a:srgbClr val="666666"/>
              </a:buClr>
              <a:buSzPts val="1800"/>
              <a:buFont typeface="Arial"/>
              <a:buChar char="●"/>
            </a:pPr>
            <a:r>
              <a:rPr lang="it">
                <a:solidFill>
                  <a:srgbClr val="666666"/>
                </a:solidFill>
                <a:latin typeface="Arial"/>
                <a:ea typeface="Arial"/>
                <a:cs typeface="Arial"/>
                <a:sym typeface="Arial"/>
              </a:rPr>
              <a:t>Fair Validator (VF)</a:t>
            </a:r>
            <a:endParaRPr>
              <a:solidFill>
                <a:srgbClr val="666666"/>
              </a:solidFill>
              <a:latin typeface="Arial"/>
              <a:ea typeface="Arial"/>
              <a:cs typeface="Arial"/>
              <a:sym typeface="Arial"/>
            </a:endParaRPr>
          </a:p>
          <a:p>
            <a:pPr indent="-342900" lvl="0" marL="457200" rtl="0" algn="l">
              <a:spcBef>
                <a:spcPts val="0"/>
              </a:spcBef>
              <a:spcAft>
                <a:spcPts val="0"/>
              </a:spcAft>
              <a:buClr>
                <a:srgbClr val="666666"/>
              </a:buClr>
              <a:buSzPts val="1800"/>
              <a:buFont typeface="Arial"/>
              <a:buChar char="●"/>
            </a:pPr>
            <a:r>
              <a:rPr lang="it">
                <a:solidFill>
                  <a:srgbClr val="666666"/>
                </a:solidFill>
                <a:latin typeface="Arial"/>
                <a:ea typeface="Arial"/>
                <a:cs typeface="Arial"/>
                <a:sym typeface="Arial"/>
              </a:rPr>
              <a:t>Unfair Validator (VU)</a:t>
            </a:r>
            <a:endParaRPr>
              <a:solidFill>
                <a:srgbClr val="666666"/>
              </a:solidFill>
              <a:latin typeface="Arial"/>
              <a:ea typeface="Arial"/>
              <a:cs typeface="Arial"/>
              <a:sym typeface="Arial"/>
            </a:endParaRPr>
          </a:p>
          <a:p>
            <a:pPr indent="-342900" lvl="0" marL="457200" rtl="0" algn="l">
              <a:spcBef>
                <a:spcPts val="0"/>
              </a:spcBef>
              <a:spcAft>
                <a:spcPts val="0"/>
              </a:spcAft>
              <a:buClr>
                <a:srgbClr val="666666"/>
              </a:buClr>
              <a:buSzPts val="1800"/>
              <a:buFont typeface="Arial"/>
              <a:buChar char="●"/>
            </a:pPr>
            <a:r>
              <a:rPr lang="it">
                <a:solidFill>
                  <a:srgbClr val="666666"/>
                </a:solidFill>
                <a:latin typeface="Arial"/>
                <a:ea typeface="Arial"/>
                <a:cs typeface="Arial"/>
                <a:sym typeface="Arial"/>
              </a:rPr>
              <a:t>Delay Component (Delay)</a:t>
            </a:r>
            <a:endParaRPr>
              <a:solidFill>
                <a:srgbClr val="666666"/>
              </a:solidFill>
              <a:latin typeface="Arial"/>
              <a:ea typeface="Arial"/>
              <a:cs typeface="Arial"/>
              <a:sym typeface="Arial"/>
            </a:endParaRPr>
          </a:p>
          <a:p>
            <a:pPr indent="-342900" lvl="0" marL="457200" rtl="0" algn="l">
              <a:spcBef>
                <a:spcPts val="0"/>
              </a:spcBef>
              <a:spcAft>
                <a:spcPts val="0"/>
              </a:spcAft>
              <a:buClr>
                <a:srgbClr val="666666"/>
              </a:buClr>
              <a:buSzPts val="1800"/>
              <a:buFont typeface="Arial"/>
              <a:buChar char="●"/>
            </a:pPr>
            <a:r>
              <a:rPr lang="it">
                <a:solidFill>
                  <a:srgbClr val="666666"/>
                </a:solidFill>
                <a:latin typeface="Arial"/>
                <a:ea typeface="Arial"/>
                <a:cs typeface="Arial"/>
                <a:sym typeface="Arial"/>
              </a:rPr>
              <a:t>Network Component</a:t>
            </a:r>
            <a:endParaRPr>
              <a:solidFill>
                <a:srgbClr val="666666"/>
              </a:solidFill>
              <a:latin typeface="Arial"/>
              <a:ea typeface="Arial"/>
              <a:cs typeface="Arial"/>
              <a:sym typeface="Arial"/>
            </a:endParaRPr>
          </a:p>
          <a:p>
            <a:pPr indent="0" lvl="0" marL="457200" rtl="0" algn="l">
              <a:spcBef>
                <a:spcPts val="2400"/>
              </a:spcBef>
              <a:spcAft>
                <a:spcPts val="600"/>
              </a:spcAft>
              <a:buNone/>
            </a:pPr>
            <a:r>
              <a:t/>
            </a:r>
            <a:endParaRPr>
              <a:solidFill>
                <a:srgbClr val="66666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Slot Component (Slot_i)  </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lang="it">
                <a:solidFill>
                  <a:srgbClr val="666666"/>
                </a:solidFill>
                <a:latin typeface="Arial"/>
                <a:ea typeface="Arial"/>
                <a:cs typeface="Arial"/>
                <a:sym typeface="Arial"/>
              </a:rPr>
              <a:t>Slots </a:t>
            </a:r>
            <a:r>
              <a:rPr lang="it">
                <a:solidFill>
                  <a:srgbClr val="666666"/>
                </a:solidFill>
                <a:latin typeface="Arial"/>
                <a:ea typeface="Arial"/>
                <a:cs typeface="Arial"/>
                <a:sym typeface="Arial"/>
              </a:rPr>
              <a:t>represent</a:t>
            </a:r>
            <a:r>
              <a:rPr lang="it">
                <a:solidFill>
                  <a:srgbClr val="666666"/>
                </a:solidFill>
                <a:latin typeface="Arial"/>
                <a:ea typeface="Arial"/>
                <a:cs typeface="Arial"/>
                <a:sym typeface="Arial"/>
              </a:rPr>
              <a:t> the time unit of the </a:t>
            </a:r>
            <a:r>
              <a:rPr lang="it">
                <a:solidFill>
                  <a:srgbClr val="666666"/>
                </a:solidFill>
                <a:latin typeface="Arial"/>
                <a:ea typeface="Arial"/>
                <a:cs typeface="Arial"/>
                <a:sym typeface="Arial"/>
              </a:rPr>
              <a:t>blockchain</a:t>
            </a:r>
            <a:r>
              <a:rPr lang="it">
                <a:solidFill>
                  <a:srgbClr val="666666"/>
                </a:solidFill>
                <a:latin typeface="Arial"/>
                <a:ea typeface="Arial"/>
                <a:cs typeface="Arial"/>
                <a:sym typeface="Arial"/>
              </a:rPr>
              <a:t>, and are divided in two phases:</a:t>
            </a:r>
            <a:endParaRPr>
              <a:solidFill>
                <a:srgbClr val="666666"/>
              </a:solidFill>
              <a:latin typeface="Arial"/>
              <a:ea typeface="Arial"/>
              <a:cs typeface="Arial"/>
              <a:sym typeface="Arial"/>
            </a:endParaRPr>
          </a:p>
          <a:p>
            <a:pPr indent="-342900" lvl="0" marL="457200" rtl="0" algn="l">
              <a:spcBef>
                <a:spcPts val="2400"/>
              </a:spcBef>
              <a:spcAft>
                <a:spcPts val="0"/>
              </a:spcAft>
              <a:buClr>
                <a:srgbClr val="666666"/>
              </a:buClr>
              <a:buSzPts val="1800"/>
              <a:buFont typeface="Arial"/>
              <a:buChar char="●"/>
            </a:pPr>
            <a:r>
              <a:rPr b="1" lang="it">
                <a:solidFill>
                  <a:srgbClr val="666666"/>
                </a:solidFill>
                <a:latin typeface="Arial"/>
                <a:ea typeface="Arial"/>
                <a:cs typeface="Arial"/>
                <a:sym typeface="Arial"/>
              </a:rPr>
              <a:t>Block Proposal, </a:t>
            </a:r>
            <a:r>
              <a:rPr lang="it">
                <a:solidFill>
                  <a:srgbClr val="666666"/>
                </a:solidFill>
                <a:latin typeface="Arial"/>
                <a:ea typeface="Arial"/>
                <a:cs typeface="Arial"/>
                <a:sym typeface="Arial"/>
              </a:rPr>
              <a:t>where </a:t>
            </a:r>
            <a:r>
              <a:rPr lang="it">
                <a:solidFill>
                  <a:srgbClr val="666666"/>
                </a:solidFill>
                <a:latin typeface="Roboto Mono Light"/>
                <a:ea typeface="Roboto Mono Light"/>
                <a:cs typeface="Roboto Mono Light"/>
                <a:sym typeface="Roboto Mono Light"/>
              </a:rPr>
              <a:t>slot_pi</a:t>
            </a:r>
            <a:r>
              <a:rPr lang="it">
                <a:solidFill>
                  <a:srgbClr val="666666"/>
                </a:solidFill>
                <a:latin typeface="Arial"/>
                <a:ea typeface="Arial"/>
                <a:cs typeface="Arial"/>
                <a:sym typeface="Arial"/>
              </a:rPr>
              <a:t> indicates the rate at which new blocks are proposed for voting</a:t>
            </a:r>
            <a:endParaRPr>
              <a:solidFill>
                <a:srgbClr val="666666"/>
              </a:solidFill>
              <a:latin typeface="Arial"/>
              <a:ea typeface="Arial"/>
              <a:cs typeface="Arial"/>
              <a:sym typeface="Arial"/>
            </a:endParaRPr>
          </a:p>
          <a:p>
            <a:pPr indent="-342900" lvl="0" marL="457200" rtl="0" algn="l">
              <a:spcBef>
                <a:spcPts val="0"/>
              </a:spcBef>
              <a:spcAft>
                <a:spcPts val="0"/>
              </a:spcAft>
              <a:buClr>
                <a:srgbClr val="666666"/>
              </a:buClr>
              <a:buSzPts val="1800"/>
              <a:buFont typeface="Arial"/>
              <a:buChar char="●"/>
            </a:pPr>
            <a:r>
              <a:rPr b="1" lang="it">
                <a:solidFill>
                  <a:srgbClr val="666666"/>
                </a:solidFill>
                <a:latin typeface="Arial"/>
                <a:ea typeface="Arial"/>
                <a:cs typeface="Arial"/>
                <a:sym typeface="Arial"/>
              </a:rPr>
              <a:t>Attestation / Voting,</a:t>
            </a:r>
            <a:r>
              <a:rPr lang="it">
                <a:solidFill>
                  <a:srgbClr val="666666"/>
                </a:solidFill>
                <a:latin typeface="Arial"/>
                <a:ea typeface="Arial"/>
                <a:cs typeface="Arial"/>
                <a:sym typeface="Arial"/>
              </a:rPr>
              <a:t> where </a:t>
            </a:r>
            <a:r>
              <a:rPr lang="it">
                <a:solidFill>
                  <a:srgbClr val="666666"/>
                </a:solidFill>
                <a:latin typeface="Roboto Mono Light"/>
                <a:ea typeface="Roboto Mono Light"/>
                <a:cs typeface="Roboto Mono Light"/>
                <a:sym typeface="Roboto Mono Light"/>
              </a:rPr>
              <a:t>slot_vi</a:t>
            </a:r>
            <a:r>
              <a:rPr lang="it">
                <a:solidFill>
                  <a:srgbClr val="666666"/>
                </a:solidFill>
                <a:latin typeface="Arial"/>
                <a:ea typeface="Arial"/>
                <a:cs typeface="Arial"/>
                <a:sym typeface="Arial"/>
              </a:rPr>
              <a:t> indicates the rate at which the proposed blocks get voted</a:t>
            </a:r>
            <a:endParaRPr>
              <a:solidFill>
                <a:srgbClr val="666666"/>
              </a:solidFill>
              <a:latin typeface="Arial"/>
              <a:ea typeface="Arial"/>
              <a:cs typeface="Arial"/>
              <a:sym typeface="Arial"/>
            </a:endParaRPr>
          </a:p>
          <a:p>
            <a:pPr indent="0" lvl="0" marL="0" rtl="0" algn="l">
              <a:spcBef>
                <a:spcPts val="2400"/>
              </a:spcBef>
              <a:spcAft>
                <a:spcPts val="600"/>
              </a:spcAft>
              <a:buNone/>
            </a:pPr>
            <a:r>
              <a:rPr lang="it">
                <a:solidFill>
                  <a:srgbClr val="666666"/>
                </a:solidFill>
                <a:latin typeface="Arial"/>
                <a:ea typeface="Arial"/>
                <a:cs typeface="Arial"/>
                <a:sym typeface="Arial"/>
              </a:rPr>
              <a:t>Once the two phases are completed, a new slots starts.</a:t>
            </a:r>
            <a:endParaRPr>
              <a:solidFill>
                <a:srgbClr val="666666"/>
              </a:solidFill>
              <a:latin typeface="Arial"/>
              <a:ea typeface="Arial"/>
              <a:cs typeface="Arial"/>
              <a:sym typeface="Arial"/>
            </a:endParaRPr>
          </a:p>
        </p:txBody>
      </p:sp>
      <p:pic>
        <p:nvPicPr>
          <p:cNvPr id="105" name="Google Shape;105;p20"/>
          <p:cNvPicPr preferRelativeResize="0"/>
          <p:nvPr/>
        </p:nvPicPr>
        <p:blipFill>
          <a:blip r:embed="rId3">
            <a:alphaModFix/>
          </a:blip>
          <a:stretch>
            <a:fillRect/>
          </a:stretch>
        </p:blipFill>
        <p:spPr>
          <a:xfrm>
            <a:off x="2862625" y="3772425"/>
            <a:ext cx="3418750" cy="1239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Unfair Validator (VU)</a:t>
            </a:r>
            <a:endParaRPr/>
          </a:p>
        </p:txBody>
      </p:sp>
      <p:sp>
        <p:nvSpPr>
          <p:cNvPr id="111" name="Google Shape;111;p21"/>
          <p:cNvSpPr txBox="1"/>
          <p:nvPr>
            <p:ph idx="1" type="body"/>
          </p:nvPr>
        </p:nvSpPr>
        <p:spPr>
          <a:xfrm>
            <a:off x="311700" y="1152475"/>
            <a:ext cx="8520600" cy="20007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None/>
            </a:pPr>
            <a:r>
              <a:rPr lang="it">
                <a:solidFill>
                  <a:srgbClr val="666666"/>
                </a:solidFill>
                <a:latin typeface="Arial"/>
                <a:ea typeface="Arial"/>
                <a:cs typeface="Arial"/>
                <a:sym typeface="Arial"/>
              </a:rPr>
              <a:t>This validator behaves selfishly, given that it </a:t>
            </a:r>
            <a:r>
              <a:rPr b="1" lang="it">
                <a:solidFill>
                  <a:srgbClr val="666666"/>
                </a:solidFill>
                <a:latin typeface="Arial"/>
                <a:ea typeface="Arial"/>
                <a:cs typeface="Arial"/>
                <a:sym typeface="Arial"/>
              </a:rPr>
              <a:t>does not verify the proposed blocks, </a:t>
            </a:r>
            <a:r>
              <a:rPr lang="it">
                <a:solidFill>
                  <a:srgbClr val="666666"/>
                </a:solidFill>
                <a:latin typeface="Arial"/>
                <a:ea typeface="Arial"/>
                <a:cs typeface="Arial"/>
                <a:sym typeface="Arial"/>
              </a:rPr>
              <a:t>which means that it votes immediately and </a:t>
            </a:r>
            <a:r>
              <a:rPr b="1" lang="it">
                <a:solidFill>
                  <a:srgbClr val="666666"/>
                </a:solidFill>
                <a:latin typeface="Arial"/>
                <a:ea typeface="Arial"/>
                <a:cs typeface="Arial"/>
                <a:sym typeface="Arial"/>
              </a:rPr>
              <a:t>always receives maximum rewards</a:t>
            </a:r>
            <a:r>
              <a:rPr lang="it">
                <a:solidFill>
                  <a:srgbClr val="666666"/>
                </a:solidFill>
                <a:latin typeface="Arial"/>
                <a:ea typeface="Arial"/>
                <a:cs typeface="Arial"/>
                <a:sym typeface="Arial"/>
              </a:rPr>
              <a:t> while compromising security.</a:t>
            </a:r>
            <a:endParaRPr>
              <a:solidFill>
                <a:srgbClr val="666666"/>
              </a:solidFill>
              <a:latin typeface="Arial"/>
              <a:ea typeface="Arial"/>
              <a:cs typeface="Arial"/>
              <a:sym typeface="Arial"/>
            </a:endParaRPr>
          </a:p>
          <a:p>
            <a:pPr indent="0" lvl="0" marL="0" rtl="0" algn="l">
              <a:spcBef>
                <a:spcPts val="2400"/>
              </a:spcBef>
              <a:spcAft>
                <a:spcPts val="600"/>
              </a:spcAft>
              <a:buNone/>
            </a:pPr>
            <a:r>
              <a:rPr lang="it">
                <a:solidFill>
                  <a:srgbClr val="666666"/>
                </a:solidFill>
                <a:latin typeface="Arial"/>
                <a:ea typeface="Arial"/>
                <a:cs typeface="Arial"/>
                <a:sym typeface="Arial"/>
              </a:rPr>
              <a:t>This means that he cannot </a:t>
            </a:r>
            <a:r>
              <a:rPr lang="it">
                <a:solidFill>
                  <a:srgbClr val="666666"/>
                </a:solidFill>
                <a:latin typeface="Arial"/>
                <a:ea typeface="Arial"/>
                <a:cs typeface="Arial"/>
                <a:sym typeface="Arial"/>
              </a:rPr>
              <a:t>incur</a:t>
            </a:r>
            <a:r>
              <a:rPr lang="it">
                <a:solidFill>
                  <a:srgbClr val="666666"/>
                </a:solidFill>
                <a:latin typeface="Arial"/>
                <a:ea typeface="Arial"/>
                <a:cs typeface="Arial"/>
                <a:sym typeface="Arial"/>
              </a:rPr>
              <a:t> in penalties for delayed responses.</a:t>
            </a:r>
            <a:endParaRPr>
              <a:solidFill>
                <a:srgbClr val="666666"/>
              </a:solidFill>
              <a:latin typeface="Arial"/>
              <a:ea typeface="Arial"/>
              <a:cs typeface="Arial"/>
              <a:sym typeface="Arial"/>
            </a:endParaRPr>
          </a:p>
        </p:txBody>
      </p:sp>
      <p:pic>
        <p:nvPicPr>
          <p:cNvPr id="112" name="Google Shape;112;p21"/>
          <p:cNvPicPr preferRelativeResize="0"/>
          <p:nvPr/>
        </p:nvPicPr>
        <p:blipFill>
          <a:blip r:embed="rId3">
            <a:alphaModFix/>
          </a:blip>
          <a:stretch>
            <a:fillRect/>
          </a:stretch>
        </p:blipFill>
        <p:spPr>
          <a:xfrm>
            <a:off x="1873577" y="3637683"/>
            <a:ext cx="5396850" cy="502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338350" y="1152475"/>
            <a:ext cx="8520600" cy="34164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None/>
            </a:pPr>
            <a:r>
              <a:rPr lang="it">
                <a:solidFill>
                  <a:srgbClr val="666666"/>
                </a:solidFill>
                <a:latin typeface="Arial"/>
                <a:ea typeface="Arial"/>
                <a:cs typeface="Arial"/>
                <a:sym typeface="Arial"/>
              </a:rPr>
              <a:t>The Fair Validator </a:t>
            </a:r>
            <a:r>
              <a:rPr lang="it">
                <a:solidFill>
                  <a:srgbClr val="666666"/>
                </a:solidFill>
                <a:latin typeface="Arial"/>
                <a:ea typeface="Arial"/>
                <a:cs typeface="Arial"/>
                <a:sym typeface="Arial"/>
              </a:rPr>
              <a:t>tries to </a:t>
            </a:r>
            <a:r>
              <a:rPr b="1" lang="it">
                <a:solidFill>
                  <a:srgbClr val="666666"/>
                </a:solidFill>
                <a:latin typeface="Arial"/>
                <a:ea typeface="Arial"/>
                <a:cs typeface="Arial"/>
                <a:sym typeface="Arial"/>
              </a:rPr>
              <a:t>always check if a block is valid,</a:t>
            </a:r>
            <a:r>
              <a:rPr lang="it">
                <a:solidFill>
                  <a:srgbClr val="666666"/>
                </a:solidFill>
                <a:latin typeface="Arial"/>
                <a:ea typeface="Arial"/>
                <a:cs typeface="Arial"/>
                <a:sym typeface="Arial"/>
              </a:rPr>
              <a:t> which might make him go into a Delay state, i.e., he hasn’t yet submitted its vote, </a:t>
            </a:r>
            <a:r>
              <a:rPr lang="it">
                <a:solidFill>
                  <a:srgbClr val="666666"/>
                </a:solidFill>
                <a:latin typeface="Arial"/>
                <a:ea typeface="Arial"/>
                <a:cs typeface="Arial"/>
                <a:sym typeface="Arial"/>
              </a:rPr>
              <a:t>which</a:t>
            </a:r>
            <a:r>
              <a:rPr lang="it">
                <a:solidFill>
                  <a:srgbClr val="666666"/>
                </a:solidFill>
                <a:latin typeface="Arial"/>
                <a:ea typeface="Arial"/>
                <a:cs typeface="Arial"/>
                <a:sym typeface="Arial"/>
              </a:rPr>
              <a:t> means that he is “late” and will </a:t>
            </a:r>
            <a:r>
              <a:rPr lang="it">
                <a:solidFill>
                  <a:srgbClr val="666666"/>
                </a:solidFill>
                <a:latin typeface="Arial"/>
                <a:ea typeface="Arial"/>
                <a:cs typeface="Arial"/>
                <a:sym typeface="Arial"/>
              </a:rPr>
              <a:t>incur</a:t>
            </a:r>
            <a:r>
              <a:rPr lang="it">
                <a:solidFill>
                  <a:srgbClr val="666666"/>
                </a:solidFill>
                <a:latin typeface="Arial"/>
                <a:ea typeface="Arial"/>
                <a:cs typeface="Arial"/>
                <a:sym typeface="Arial"/>
              </a:rPr>
              <a:t> in penalties.</a:t>
            </a:r>
            <a:endParaRPr>
              <a:solidFill>
                <a:srgbClr val="666666"/>
              </a:solidFill>
              <a:latin typeface="Arial"/>
              <a:ea typeface="Arial"/>
              <a:cs typeface="Arial"/>
              <a:sym typeface="Arial"/>
            </a:endParaRPr>
          </a:p>
          <a:p>
            <a:pPr indent="0" lvl="0" marL="0" rtl="0" algn="l">
              <a:spcBef>
                <a:spcPts val="2400"/>
              </a:spcBef>
              <a:spcAft>
                <a:spcPts val="600"/>
              </a:spcAft>
              <a:buNone/>
            </a:pPr>
            <a:r>
              <a:rPr lang="it">
                <a:solidFill>
                  <a:srgbClr val="666666"/>
                </a:solidFill>
                <a:latin typeface="Arial"/>
                <a:ea typeface="Arial"/>
                <a:cs typeface="Arial"/>
                <a:sym typeface="Arial"/>
              </a:rPr>
              <a:t>We can see that with probability ⍵ he will </a:t>
            </a:r>
            <a:r>
              <a:rPr lang="it" u="sng">
                <a:solidFill>
                  <a:srgbClr val="666666"/>
                </a:solidFill>
                <a:latin typeface="Arial"/>
                <a:ea typeface="Arial"/>
                <a:cs typeface="Arial"/>
                <a:sym typeface="Arial"/>
              </a:rPr>
              <a:t>not</a:t>
            </a:r>
            <a:r>
              <a:rPr lang="it">
                <a:solidFill>
                  <a:srgbClr val="666666"/>
                </a:solidFill>
                <a:latin typeface="Arial"/>
                <a:ea typeface="Arial"/>
                <a:cs typeface="Arial"/>
                <a:sym typeface="Arial"/>
              </a:rPr>
              <a:t> go into the Delay state. If he’s in the delay state he’ll exit with rate ẟ.</a:t>
            </a:r>
            <a:endParaRPr>
              <a:solidFill>
                <a:srgbClr val="666666"/>
              </a:solidFill>
              <a:latin typeface="Arial"/>
              <a:ea typeface="Arial"/>
              <a:cs typeface="Arial"/>
              <a:sym typeface="Arial"/>
            </a:endParaRPr>
          </a:p>
        </p:txBody>
      </p:sp>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Fair Validator (VF)</a:t>
            </a:r>
            <a:endParaRPr/>
          </a:p>
        </p:txBody>
      </p:sp>
      <p:pic>
        <p:nvPicPr>
          <p:cNvPr id="119" name="Google Shape;119;p22"/>
          <p:cNvPicPr preferRelativeResize="0"/>
          <p:nvPr/>
        </p:nvPicPr>
        <p:blipFill>
          <a:blip r:embed="rId3">
            <a:alphaModFix/>
          </a:blip>
          <a:stretch>
            <a:fillRect/>
          </a:stretch>
        </p:blipFill>
        <p:spPr>
          <a:xfrm>
            <a:off x="1089225" y="3843425"/>
            <a:ext cx="6965553" cy="725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Network</a:t>
            </a:r>
            <a:r>
              <a:rPr lang="it" sz="1500">
                <a:solidFill>
                  <a:srgbClr val="666666"/>
                </a:solidFill>
                <a:latin typeface="Arial"/>
                <a:ea typeface="Arial"/>
                <a:cs typeface="Arial"/>
                <a:sym typeface="Arial"/>
              </a:rPr>
              <a:t> </a:t>
            </a:r>
            <a:r>
              <a:rPr lang="it"/>
              <a:t>Component</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2400"/>
              </a:spcBef>
              <a:spcAft>
                <a:spcPts val="0"/>
              </a:spcAft>
              <a:buNone/>
            </a:pPr>
            <a:r>
              <a:rPr lang="it">
                <a:solidFill>
                  <a:srgbClr val="666666"/>
                </a:solidFill>
                <a:latin typeface="Arial"/>
                <a:ea typeface="Arial"/>
                <a:cs typeface="Arial"/>
                <a:sym typeface="Arial"/>
              </a:rPr>
              <a:t>This is the composition of the slot mechanism, the fair validator, and the unfair validator.</a:t>
            </a:r>
            <a:endParaRPr>
              <a:solidFill>
                <a:srgbClr val="666666"/>
              </a:solidFill>
              <a:latin typeface="Arial"/>
              <a:ea typeface="Arial"/>
              <a:cs typeface="Arial"/>
              <a:sym typeface="Arial"/>
            </a:endParaRPr>
          </a:p>
          <a:p>
            <a:pPr indent="0" lvl="0" marL="0" marR="0" rtl="0" algn="l">
              <a:lnSpc>
                <a:spcPct val="115000"/>
              </a:lnSpc>
              <a:spcBef>
                <a:spcPts val="2400"/>
              </a:spcBef>
              <a:spcAft>
                <a:spcPts val="600"/>
              </a:spcAft>
              <a:buNone/>
            </a:pPr>
            <a:r>
              <a:rPr lang="it">
                <a:solidFill>
                  <a:srgbClr val="666666"/>
                </a:solidFill>
                <a:latin typeface="Arial"/>
                <a:ea typeface="Arial"/>
                <a:cs typeface="Arial"/>
                <a:sym typeface="Arial"/>
              </a:rPr>
              <a:t>It represents the full model of consensus behaviour within an epoch.</a:t>
            </a:r>
            <a:endParaRPr>
              <a:solidFill>
                <a:srgbClr val="666666"/>
              </a:solidFill>
              <a:latin typeface="Arial"/>
              <a:ea typeface="Arial"/>
              <a:cs typeface="Arial"/>
              <a:sym typeface="Arial"/>
            </a:endParaRPr>
          </a:p>
        </p:txBody>
      </p:sp>
      <p:pic>
        <p:nvPicPr>
          <p:cNvPr id="126" name="Google Shape;126;p23"/>
          <p:cNvPicPr preferRelativeResize="0"/>
          <p:nvPr/>
        </p:nvPicPr>
        <p:blipFill>
          <a:blip r:embed="rId3">
            <a:alphaModFix/>
          </a:blip>
          <a:stretch>
            <a:fillRect/>
          </a:stretch>
        </p:blipFill>
        <p:spPr>
          <a:xfrm>
            <a:off x="2222613" y="3581699"/>
            <a:ext cx="4698776" cy="1007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idx="1" type="body"/>
          </p:nvPr>
        </p:nvSpPr>
        <p:spPr>
          <a:xfrm>
            <a:off x="311700" y="1146100"/>
            <a:ext cx="8520600" cy="3416400"/>
          </a:xfrm>
          <a:prstGeom prst="rect">
            <a:avLst/>
          </a:prstGeom>
        </p:spPr>
        <p:txBody>
          <a:bodyPr anchorCtr="0" anchor="t" bIns="91425" lIns="91425" spcFirstLastPara="1" rIns="91425" wrap="square" tIns="91425">
            <a:noAutofit/>
          </a:bodyPr>
          <a:lstStyle/>
          <a:p>
            <a:pPr indent="0" lvl="0" marL="0" rtl="0" algn="l">
              <a:spcBef>
                <a:spcPts val="2400"/>
              </a:spcBef>
              <a:spcAft>
                <a:spcPts val="600"/>
              </a:spcAft>
              <a:buNone/>
            </a:pPr>
            <a:r>
              <a:rPr lang="it">
                <a:solidFill>
                  <a:srgbClr val="666666"/>
                </a:solidFill>
                <a:latin typeface="Arial"/>
                <a:ea typeface="Arial"/>
                <a:cs typeface="Arial"/>
                <a:sym typeface="Arial"/>
              </a:rPr>
              <a:t>By putting all together, we get the complete PEPA model.</a:t>
            </a:r>
            <a:endParaRPr>
              <a:solidFill>
                <a:srgbClr val="666666"/>
              </a:solidFill>
              <a:latin typeface="Arial"/>
              <a:ea typeface="Arial"/>
              <a:cs typeface="Arial"/>
              <a:sym typeface="Arial"/>
            </a:endParaRPr>
          </a:p>
        </p:txBody>
      </p:sp>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All Together </a:t>
            </a:r>
            <a:endParaRPr/>
          </a:p>
        </p:txBody>
      </p:sp>
      <p:pic>
        <p:nvPicPr>
          <p:cNvPr id="133" name="Google Shape;133;p24"/>
          <p:cNvPicPr preferRelativeResize="0"/>
          <p:nvPr/>
        </p:nvPicPr>
        <p:blipFill>
          <a:blip r:embed="rId3">
            <a:alphaModFix/>
          </a:blip>
          <a:stretch>
            <a:fillRect/>
          </a:stretch>
        </p:blipFill>
        <p:spPr>
          <a:xfrm>
            <a:off x="2032015" y="1744500"/>
            <a:ext cx="5079980" cy="3143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Derivation Graph</a:t>
            </a:r>
            <a:endParaRPr/>
          </a:p>
        </p:txBody>
      </p:sp>
      <p:sp>
        <p:nvSpPr>
          <p:cNvPr id="139" name="Google Shape;13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It’s a labelled transition system, which is called derivation graph, such that :</a:t>
            </a:r>
            <a:endParaRPr/>
          </a:p>
          <a:p>
            <a:pPr indent="-342900" lvl="0" marL="457200" rtl="0" algn="l">
              <a:spcBef>
                <a:spcPts val="1200"/>
              </a:spcBef>
              <a:spcAft>
                <a:spcPts val="0"/>
              </a:spcAft>
              <a:buSzPts val="1800"/>
              <a:buChar char="●"/>
            </a:pPr>
            <a:r>
              <a:rPr lang="it"/>
              <a:t>S is the set of states</a:t>
            </a:r>
            <a:endParaRPr/>
          </a:p>
          <a:p>
            <a:pPr indent="-342900" lvl="0" marL="457200" rtl="0" algn="l">
              <a:spcBef>
                <a:spcPts val="0"/>
              </a:spcBef>
              <a:spcAft>
                <a:spcPts val="0"/>
              </a:spcAft>
              <a:buSzPts val="1800"/>
              <a:buChar char="●"/>
            </a:pPr>
            <a:r>
              <a:rPr lang="it"/>
              <a:t>T is a set of labels for the transitions</a:t>
            </a:r>
            <a:endParaRPr/>
          </a:p>
          <a:p>
            <a:pPr indent="-342900" lvl="0" marL="457200" rtl="0" algn="l">
              <a:spcBef>
                <a:spcPts val="0"/>
              </a:spcBef>
              <a:spcAft>
                <a:spcPts val="0"/>
              </a:spcAft>
              <a:buSzPts val="1800"/>
              <a:buChar char="●"/>
            </a:pPr>
            <a:r>
              <a:rPr lang="it"/>
              <a:t>                is a transition related to every</a:t>
            </a:r>
            <a:endParaRPr/>
          </a:p>
        </p:txBody>
      </p:sp>
      <p:pic>
        <p:nvPicPr>
          <p:cNvPr id="140" name="Google Shape;140;p25"/>
          <p:cNvPicPr preferRelativeResize="0"/>
          <p:nvPr/>
        </p:nvPicPr>
        <p:blipFill>
          <a:blip r:embed="rId3">
            <a:alphaModFix/>
          </a:blip>
          <a:stretch>
            <a:fillRect/>
          </a:stretch>
        </p:blipFill>
        <p:spPr>
          <a:xfrm>
            <a:off x="817825" y="2353350"/>
            <a:ext cx="890423" cy="269825"/>
          </a:xfrm>
          <a:prstGeom prst="rect">
            <a:avLst/>
          </a:prstGeom>
          <a:noFill/>
          <a:ln>
            <a:noFill/>
          </a:ln>
        </p:spPr>
      </p:pic>
      <p:pic>
        <p:nvPicPr>
          <p:cNvPr id="141" name="Google Shape;141;p25"/>
          <p:cNvPicPr preferRelativeResize="0"/>
          <p:nvPr/>
        </p:nvPicPr>
        <p:blipFill>
          <a:blip r:embed="rId4">
            <a:alphaModFix/>
          </a:blip>
          <a:stretch>
            <a:fillRect/>
          </a:stretch>
        </p:blipFill>
        <p:spPr>
          <a:xfrm>
            <a:off x="4822325" y="2385952"/>
            <a:ext cx="542925" cy="228600"/>
          </a:xfrm>
          <a:prstGeom prst="rect">
            <a:avLst/>
          </a:prstGeom>
          <a:noFill/>
          <a:ln>
            <a:noFill/>
          </a:ln>
        </p:spPr>
      </p:pic>
      <p:pic>
        <p:nvPicPr>
          <p:cNvPr id="142" name="Google Shape;142;p25"/>
          <p:cNvPicPr preferRelativeResize="0"/>
          <p:nvPr/>
        </p:nvPicPr>
        <p:blipFill>
          <a:blip r:embed="rId5">
            <a:alphaModFix/>
          </a:blip>
          <a:stretch>
            <a:fillRect/>
          </a:stretch>
        </p:blipFill>
        <p:spPr>
          <a:xfrm>
            <a:off x="3561595" y="2961425"/>
            <a:ext cx="2020800" cy="516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Derivation Graph</a:t>
            </a:r>
            <a:endParaRPr/>
          </a:p>
          <a:p>
            <a:pPr indent="0" lvl="0" marL="0" rtl="0" algn="l">
              <a:spcBef>
                <a:spcPts val="0"/>
              </a:spcBef>
              <a:spcAft>
                <a:spcPts val="0"/>
              </a:spcAft>
              <a:buNone/>
            </a:pPr>
            <a:r>
              <a:t/>
            </a:r>
            <a:endParaRPr/>
          </a:p>
        </p:txBody>
      </p:sp>
      <p:sp>
        <p:nvSpPr>
          <p:cNvPr id="148" name="Google Shape;14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This is our derivation graph and the related CTMC</a:t>
            </a:r>
            <a:endParaRPr/>
          </a:p>
        </p:txBody>
      </p:sp>
      <p:pic>
        <p:nvPicPr>
          <p:cNvPr id="149" name="Google Shape;149;p26"/>
          <p:cNvPicPr preferRelativeResize="0"/>
          <p:nvPr/>
        </p:nvPicPr>
        <p:blipFill>
          <a:blip r:embed="rId3">
            <a:alphaModFix/>
          </a:blip>
          <a:stretch>
            <a:fillRect/>
          </a:stretch>
        </p:blipFill>
        <p:spPr>
          <a:xfrm>
            <a:off x="311700" y="1643975"/>
            <a:ext cx="3845575" cy="3037926"/>
          </a:xfrm>
          <a:prstGeom prst="rect">
            <a:avLst/>
          </a:prstGeom>
          <a:noFill/>
          <a:ln>
            <a:noFill/>
          </a:ln>
        </p:spPr>
      </p:pic>
      <p:pic>
        <p:nvPicPr>
          <p:cNvPr id="150" name="Google Shape;150;p26"/>
          <p:cNvPicPr preferRelativeResize="0"/>
          <p:nvPr/>
        </p:nvPicPr>
        <p:blipFill>
          <a:blip r:embed="rId4">
            <a:alphaModFix/>
          </a:blip>
          <a:stretch>
            <a:fillRect/>
          </a:stretch>
        </p:blipFill>
        <p:spPr>
          <a:xfrm>
            <a:off x="5594550" y="1190100"/>
            <a:ext cx="2586751" cy="3416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Infinitesimal Generator </a:t>
            </a:r>
            <a:r>
              <a:rPr lang="it"/>
              <a:t>Matrix</a:t>
            </a:r>
            <a:endParaRPr/>
          </a:p>
        </p:txBody>
      </p:sp>
      <p:sp>
        <p:nvSpPr>
          <p:cNvPr id="156" name="Google Shape;15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It’s similar to the Derivation Graph, even if it doesn’t allow self-loops, doesn’t have labels on the transitions, and the transitions from a state to another get “merged” and their rates are summed up. </a:t>
            </a:r>
            <a:endParaRPr/>
          </a:p>
        </p:txBody>
      </p:sp>
      <p:pic>
        <p:nvPicPr>
          <p:cNvPr id="157" name="Google Shape;157;p27"/>
          <p:cNvPicPr preferRelativeResize="0"/>
          <p:nvPr/>
        </p:nvPicPr>
        <p:blipFill>
          <a:blip r:embed="rId3">
            <a:alphaModFix/>
          </a:blip>
          <a:stretch>
            <a:fillRect/>
          </a:stretch>
        </p:blipFill>
        <p:spPr>
          <a:xfrm>
            <a:off x="242725" y="2571751"/>
            <a:ext cx="8658550" cy="19997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Parameterization</a:t>
            </a:r>
            <a:endParaRPr/>
          </a:p>
        </p:txBody>
      </p:sp>
      <p:sp>
        <p:nvSpPr>
          <p:cNvPr id="163" name="Google Shape;16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To actually conduct some </a:t>
            </a:r>
            <a:r>
              <a:rPr lang="it"/>
              <a:t>analysis,</a:t>
            </a:r>
            <a:r>
              <a:rPr lang="it"/>
              <a:t> it’s easier to set our parameters:</a:t>
            </a:r>
            <a:endParaRPr/>
          </a:p>
          <a:p>
            <a:pPr indent="-342900" lvl="0" marL="457200" rtl="0" algn="l">
              <a:spcBef>
                <a:spcPts val="1200"/>
              </a:spcBef>
              <a:spcAft>
                <a:spcPts val="0"/>
              </a:spcAft>
              <a:buSzPts val="1800"/>
              <a:buFont typeface="Roboto Mono Light"/>
              <a:buChar char="●"/>
            </a:pPr>
            <a:r>
              <a:rPr lang="it">
                <a:latin typeface="Roboto Mono Light"/>
                <a:ea typeface="Roboto Mono Light"/>
                <a:cs typeface="Roboto Mono Light"/>
                <a:sym typeface="Roboto Mono Light"/>
              </a:rPr>
              <a:t>n = 32 </a:t>
            </a:r>
            <a:r>
              <a:rPr lang="it"/>
              <a:t>number of slots</a:t>
            </a:r>
            <a:endParaRPr/>
          </a:p>
          <a:p>
            <a:pPr indent="-342900" lvl="0" marL="457200" rtl="0" algn="l">
              <a:spcBef>
                <a:spcPts val="0"/>
              </a:spcBef>
              <a:spcAft>
                <a:spcPts val="0"/>
              </a:spcAft>
              <a:buSzPts val="1800"/>
              <a:buFont typeface="Roboto Mono Light"/>
              <a:buChar char="●"/>
            </a:pPr>
            <a:r>
              <a:rPr lang="it">
                <a:latin typeface="Roboto Mono Light"/>
                <a:ea typeface="Roboto Mono Light"/>
                <a:cs typeface="Roboto Mono Light"/>
                <a:sym typeface="Roboto Mono Light"/>
              </a:rPr>
              <a:t>γ</a:t>
            </a:r>
            <a:r>
              <a:rPr lang="it">
                <a:latin typeface="Roboto Mono Light"/>
                <a:ea typeface="Roboto Mono Light"/>
                <a:cs typeface="Roboto Mono Light"/>
                <a:sym typeface="Roboto Mono Light"/>
              </a:rPr>
              <a:t> = ¼  </a:t>
            </a:r>
            <a:r>
              <a:rPr lang="it"/>
              <a:t>block proposal rate</a:t>
            </a:r>
            <a:endParaRPr/>
          </a:p>
          <a:p>
            <a:pPr indent="-342900" lvl="0" marL="457200" rtl="0" algn="l">
              <a:spcBef>
                <a:spcPts val="0"/>
              </a:spcBef>
              <a:spcAft>
                <a:spcPts val="0"/>
              </a:spcAft>
              <a:buSzPts val="1800"/>
              <a:buFont typeface="Roboto Mono Light"/>
              <a:buChar char="●"/>
            </a:pPr>
            <a:r>
              <a:rPr lang="it">
                <a:latin typeface="Roboto Mono Light"/>
                <a:ea typeface="Roboto Mono Light"/>
                <a:cs typeface="Roboto Mono Light"/>
                <a:sym typeface="Roboto Mono Light"/>
              </a:rPr>
              <a:t>β = ⅛  </a:t>
            </a:r>
            <a:r>
              <a:rPr lang="it"/>
              <a:t>voting rate</a:t>
            </a:r>
            <a:r>
              <a:rPr lang="it">
                <a:latin typeface="Roboto Mono Light"/>
                <a:ea typeface="Roboto Mono Light"/>
                <a:cs typeface="Roboto Mono Light"/>
                <a:sym typeface="Roboto Mono Light"/>
              </a:rPr>
              <a:t>  </a:t>
            </a:r>
            <a:endParaRPr>
              <a:latin typeface="Roboto Mono Light"/>
              <a:ea typeface="Roboto Mono Light"/>
              <a:cs typeface="Roboto Mono Light"/>
              <a:sym typeface="Roboto Mono Light"/>
            </a:endParaRPr>
          </a:p>
          <a:p>
            <a:pPr indent="-342900" lvl="0" marL="457200" rtl="0" algn="l">
              <a:spcBef>
                <a:spcPts val="0"/>
              </a:spcBef>
              <a:spcAft>
                <a:spcPts val="0"/>
              </a:spcAft>
              <a:buSzPts val="1800"/>
              <a:buFont typeface="Roboto Mono Light"/>
              <a:buChar char="●"/>
            </a:pPr>
            <a:r>
              <a:rPr lang="it">
                <a:latin typeface="Roboto Mono Light"/>
                <a:ea typeface="Roboto Mono Light"/>
                <a:cs typeface="Roboto Mono Light"/>
                <a:sym typeface="Roboto Mono Light"/>
              </a:rPr>
              <a:t>δ = ¼  </a:t>
            </a:r>
            <a:r>
              <a:rPr lang="it"/>
              <a:t>“</a:t>
            </a:r>
            <a:r>
              <a:rPr lang="it"/>
              <a:t>delay end”</a:t>
            </a:r>
            <a:r>
              <a:rPr lang="it"/>
              <a:t> rate </a:t>
            </a:r>
            <a:endParaRPr/>
          </a:p>
          <a:p>
            <a:pPr indent="-342900" lvl="0" marL="457200" rtl="0" algn="l">
              <a:spcBef>
                <a:spcPts val="0"/>
              </a:spcBef>
              <a:spcAft>
                <a:spcPts val="0"/>
              </a:spcAft>
              <a:buSzPts val="1800"/>
              <a:buFont typeface="Roboto Mono Light"/>
              <a:buChar char="●"/>
            </a:pPr>
            <a:r>
              <a:rPr lang="it">
                <a:latin typeface="Roboto Mono Light"/>
                <a:ea typeface="Roboto Mono Light"/>
                <a:cs typeface="Roboto Mono Light"/>
                <a:sym typeface="Roboto Mono Light"/>
              </a:rPr>
              <a:t>⍵ = 0.99 </a:t>
            </a:r>
            <a:r>
              <a:rPr lang="it"/>
              <a:t>proportion of delay events</a:t>
            </a:r>
            <a:endParaRPr/>
          </a:p>
          <a:p>
            <a:pPr indent="0" lvl="0" marL="0" rtl="0" algn="l">
              <a:spcBef>
                <a:spcPts val="1200"/>
              </a:spcBef>
              <a:spcAft>
                <a:spcPts val="1200"/>
              </a:spcAft>
              <a:buNone/>
            </a:pPr>
            <a:r>
              <a:rPr lang="it"/>
              <a:t>These are the “parameters” that are currently being used by </a:t>
            </a:r>
            <a:r>
              <a:rPr lang="it"/>
              <a:t>the</a:t>
            </a:r>
            <a:r>
              <a:rPr lang="it"/>
              <a:t> Ethereum blockchain</a:t>
            </a:r>
            <a:endParaRPr/>
          </a:p>
        </p:txBody>
      </p:sp>
      <p:pic>
        <p:nvPicPr>
          <p:cNvPr id="164" name="Google Shape;164;p28"/>
          <p:cNvPicPr preferRelativeResize="0"/>
          <p:nvPr/>
        </p:nvPicPr>
        <p:blipFill>
          <a:blip r:embed="rId3">
            <a:alphaModFix/>
          </a:blip>
          <a:stretch>
            <a:fillRect/>
          </a:stretch>
        </p:blipFill>
        <p:spPr>
          <a:xfrm>
            <a:off x="5140650" y="2144000"/>
            <a:ext cx="3691649" cy="855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Steady State Probability</a:t>
            </a:r>
            <a:endParaRPr/>
          </a:p>
        </p:txBody>
      </p:sp>
      <p:sp>
        <p:nvSpPr>
          <p:cNvPr id="170" name="Google Shape;17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It’s a collection of π_i that represent the </a:t>
            </a:r>
            <a:r>
              <a:rPr b="1" lang="it"/>
              <a:t>portion of time the system stays in each corresponding state.</a:t>
            </a:r>
            <a:r>
              <a:rPr lang="it"/>
              <a:t> Given the previous parameters, we obtain the following:</a:t>
            </a:r>
            <a:endParaRPr/>
          </a:p>
        </p:txBody>
      </p:sp>
      <p:pic>
        <p:nvPicPr>
          <p:cNvPr id="171" name="Google Shape;171;p29"/>
          <p:cNvPicPr preferRelativeResize="0"/>
          <p:nvPr/>
        </p:nvPicPr>
        <p:blipFill>
          <a:blip r:embed="rId3">
            <a:alphaModFix/>
          </a:blip>
          <a:stretch>
            <a:fillRect/>
          </a:stretch>
        </p:blipFill>
        <p:spPr>
          <a:xfrm>
            <a:off x="6334833" y="2411920"/>
            <a:ext cx="1897425" cy="897500"/>
          </a:xfrm>
          <a:prstGeom prst="rect">
            <a:avLst/>
          </a:prstGeom>
          <a:noFill/>
          <a:ln>
            <a:noFill/>
          </a:ln>
        </p:spPr>
      </p:pic>
      <p:pic>
        <p:nvPicPr>
          <p:cNvPr id="172" name="Google Shape;172;p29"/>
          <p:cNvPicPr preferRelativeResize="0"/>
          <p:nvPr/>
        </p:nvPicPr>
        <p:blipFill>
          <a:blip r:embed="rId4">
            <a:alphaModFix/>
          </a:blip>
          <a:stretch>
            <a:fillRect/>
          </a:stretch>
        </p:blipFill>
        <p:spPr>
          <a:xfrm>
            <a:off x="5979575" y="4034150"/>
            <a:ext cx="2607925" cy="625625"/>
          </a:xfrm>
          <a:prstGeom prst="rect">
            <a:avLst/>
          </a:prstGeom>
          <a:noFill/>
          <a:ln>
            <a:noFill/>
          </a:ln>
        </p:spPr>
      </p:pic>
      <p:pic>
        <p:nvPicPr>
          <p:cNvPr id="173" name="Google Shape;173;p29"/>
          <p:cNvPicPr preferRelativeResize="0"/>
          <p:nvPr/>
        </p:nvPicPr>
        <p:blipFill>
          <a:blip r:embed="rId5">
            <a:alphaModFix/>
          </a:blip>
          <a:stretch>
            <a:fillRect/>
          </a:stretch>
        </p:blipFill>
        <p:spPr>
          <a:xfrm>
            <a:off x="311700" y="1883250"/>
            <a:ext cx="5524372" cy="3104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Performance Measures</a:t>
            </a:r>
            <a:endParaRPr/>
          </a:p>
        </p:txBody>
      </p:sp>
      <p:sp>
        <p:nvSpPr>
          <p:cNvPr id="179" name="Google Shape;179;p30"/>
          <p:cNvSpPr txBox="1"/>
          <p:nvPr>
            <p:ph idx="1" type="body"/>
          </p:nvPr>
        </p:nvSpPr>
        <p:spPr>
          <a:xfrm>
            <a:off x="311700" y="1152475"/>
            <a:ext cx="8520600" cy="1198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The </a:t>
            </a:r>
            <a:r>
              <a:rPr b="1" lang="it"/>
              <a:t>Utilization</a:t>
            </a:r>
            <a:r>
              <a:rPr lang="it"/>
              <a:t> is a measure that tells us the portion of time the system has spent in a subset of states. We can use it to measure the mean rate at which </a:t>
            </a:r>
            <a:r>
              <a:rPr lang="it"/>
              <a:t>the</a:t>
            </a:r>
            <a:r>
              <a:rPr lang="it"/>
              <a:t> Fair Verifiers spends checking for the validity of blocks.</a:t>
            </a:r>
            <a:endParaRPr/>
          </a:p>
        </p:txBody>
      </p:sp>
      <p:pic>
        <p:nvPicPr>
          <p:cNvPr id="180" name="Google Shape;180;p30"/>
          <p:cNvPicPr preferRelativeResize="0"/>
          <p:nvPr/>
        </p:nvPicPr>
        <p:blipFill>
          <a:blip r:embed="rId3">
            <a:alphaModFix/>
          </a:blip>
          <a:stretch>
            <a:fillRect/>
          </a:stretch>
        </p:blipFill>
        <p:spPr>
          <a:xfrm>
            <a:off x="4903097" y="3195175"/>
            <a:ext cx="3600699" cy="572700"/>
          </a:xfrm>
          <a:prstGeom prst="rect">
            <a:avLst/>
          </a:prstGeom>
          <a:noFill/>
          <a:ln>
            <a:noFill/>
          </a:ln>
        </p:spPr>
      </p:pic>
      <p:graphicFrame>
        <p:nvGraphicFramePr>
          <p:cNvPr id="181" name="Google Shape;181;p30"/>
          <p:cNvGraphicFramePr/>
          <p:nvPr/>
        </p:nvGraphicFramePr>
        <p:xfrm>
          <a:off x="1050525" y="2689124"/>
          <a:ext cx="3000000" cy="3000000"/>
        </p:xfrm>
        <a:graphic>
          <a:graphicData uri="http://schemas.openxmlformats.org/drawingml/2006/table">
            <a:tbl>
              <a:tblPr>
                <a:noFill/>
                <a:tableStyleId>{B61CD78A-1505-4454-8DDA-799284A9CF8D}</a:tableStyleId>
              </a:tblPr>
              <a:tblGrid>
                <a:gridCol w="1749125"/>
                <a:gridCol w="1683200"/>
              </a:tblGrid>
              <a:tr h="381000">
                <a:tc>
                  <a:txBody>
                    <a:bodyPr/>
                    <a:lstStyle/>
                    <a:p>
                      <a:pPr indent="0" lvl="0" marL="0" rtl="0" algn="l">
                        <a:spcBef>
                          <a:spcPts val="0"/>
                        </a:spcBef>
                        <a:spcAft>
                          <a:spcPts val="0"/>
                        </a:spcAft>
                        <a:buNone/>
                      </a:pPr>
                      <a:r>
                        <a:rPr b="1" lang="it">
                          <a:latin typeface="Proxima Nova"/>
                          <a:ea typeface="Proxima Nova"/>
                          <a:cs typeface="Proxima Nova"/>
                          <a:sym typeface="Proxima Nova"/>
                        </a:rPr>
                        <a:t>Rules</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it">
                          <a:latin typeface="Proxima Nova"/>
                          <a:ea typeface="Proxima Nova"/>
                          <a:cs typeface="Proxima Nova"/>
                          <a:sym typeface="Proxima Nova"/>
                        </a:rPr>
                        <a:t>Utilization</a:t>
                      </a:r>
                      <a:endParaRPr b="1">
                        <a:latin typeface="Proxima Nova"/>
                        <a:ea typeface="Proxima Nova"/>
                        <a:cs typeface="Proxima Nova"/>
                        <a:sym typeface="Proxima Nova"/>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Delay</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0.01099</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VF</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0.98900</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VU</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1</a:t>
                      </a:r>
                      <a:endParaRPr>
                        <a:latin typeface="Roboto Mono"/>
                        <a:ea typeface="Roboto Mono"/>
                        <a:cs typeface="Roboto Mono"/>
                        <a:sym typeface="Roboto Mono"/>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Performance Measures</a:t>
            </a:r>
            <a:endParaRPr/>
          </a:p>
        </p:txBody>
      </p:sp>
      <p:sp>
        <p:nvSpPr>
          <p:cNvPr id="187" name="Google Shape;187;p31"/>
          <p:cNvSpPr txBox="1"/>
          <p:nvPr>
            <p:ph idx="1" type="body"/>
          </p:nvPr>
        </p:nvSpPr>
        <p:spPr>
          <a:xfrm>
            <a:off x="311700" y="1152475"/>
            <a:ext cx="8520600" cy="82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The </a:t>
            </a:r>
            <a:r>
              <a:rPr b="1" lang="it"/>
              <a:t>Throughput</a:t>
            </a:r>
            <a:r>
              <a:rPr lang="it"/>
              <a:t> measures the rate at which </a:t>
            </a:r>
            <a:r>
              <a:rPr lang="it"/>
              <a:t>certain events</a:t>
            </a:r>
            <a:r>
              <a:rPr lang="it"/>
              <a:t> happen. In our </a:t>
            </a:r>
            <a:r>
              <a:rPr lang="it"/>
              <a:t>case,</a:t>
            </a:r>
            <a:r>
              <a:rPr lang="it"/>
              <a:t> we’ll use it to verify how much time it takes to go </a:t>
            </a:r>
            <a:r>
              <a:rPr lang="it"/>
              <a:t>through</a:t>
            </a:r>
            <a:r>
              <a:rPr lang="it"/>
              <a:t> every slot.</a:t>
            </a:r>
            <a:endParaRPr/>
          </a:p>
        </p:txBody>
      </p:sp>
      <p:graphicFrame>
        <p:nvGraphicFramePr>
          <p:cNvPr id="188" name="Google Shape;188;p31"/>
          <p:cNvGraphicFramePr/>
          <p:nvPr/>
        </p:nvGraphicFramePr>
        <p:xfrm>
          <a:off x="1069300" y="2374674"/>
          <a:ext cx="3000000" cy="3000000"/>
        </p:xfrm>
        <a:graphic>
          <a:graphicData uri="http://schemas.openxmlformats.org/drawingml/2006/table">
            <a:tbl>
              <a:tblPr>
                <a:noFill/>
                <a:tableStyleId>{B61CD78A-1505-4454-8DDA-799284A9CF8D}</a:tableStyleId>
              </a:tblPr>
              <a:tblGrid>
                <a:gridCol w="1749125"/>
                <a:gridCol w="1683200"/>
              </a:tblGrid>
              <a:tr h="381000">
                <a:tc>
                  <a:txBody>
                    <a:bodyPr/>
                    <a:lstStyle/>
                    <a:p>
                      <a:pPr indent="0" lvl="0" marL="0" rtl="0" algn="l">
                        <a:spcBef>
                          <a:spcPts val="0"/>
                        </a:spcBef>
                        <a:spcAft>
                          <a:spcPts val="0"/>
                        </a:spcAft>
                        <a:buNone/>
                      </a:pPr>
                      <a:r>
                        <a:rPr b="1" lang="it">
                          <a:latin typeface="Proxima Nova"/>
                          <a:ea typeface="Proxima Nova"/>
                          <a:cs typeface="Proxima Nova"/>
                          <a:sym typeface="Proxima Nova"/>
                        </a:rPr>
                        <a:t>Action</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it">
                          <a:latin typeface="Proxima Nova"/>
                          <a:ea typeface="Proxima Nova"/>
                          <a:cs typeface="Proxima Nova"/>
                          <a:sym typeface="Proxima Nova"/>
                        </a:rPr>
                        <a:t>Throughput</a:t>
                      </a:r>
                      <a:endParaRPr b="1">
                        <a:latin typeface="Proxima Nova"/>
                        <a:ea typeface="Proxima Nova"/>
                        <a:cs typeface="Proxima Nova"/>
                        <a:sym typeface="Proxima Nova"/>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slot_p1</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0.002604</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slot_v1</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0.002604</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slot_p2</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0.002604</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a:t>
                      </a:r>
                      <a:endParaRPr>
                        <a:latin typeface="Roboto Mono"/>
                        <a:ea typeface="Roboto Mono"/>
                        <a:cs typeface="Roboto Mono"/>
                        <a:sym typeface="Roboto Mono"/>
                      </a:endParaRPr>
                    </a:p>
                  </a:txBody>
                  <a:tcPr marT="91425" marB="91425" marR="91425" marL="91425"/>
                </a:tc>
              </a:tr>
            </a:tbl>
          </a:graphicData>
        </a:graphic>
      </p:graphicFrame>
      <p:pic>
        <p:nvPicPr>
          <p:cNvPr id="189" name="Google Shape;189;p31"/>
          <p:cNvPicPr preferRelativeResize="0"/>
          <p:nvPr/>
        </p:nvPicPr>
        <p:blipFill>
          <a:blip r:embed="rId3">
            <a:alphaModFix/>
          </a:blip>
          <a:stretch>
            <a:fillRect/>
          </a:stretch>
        </p:blipFill>
        <p:spPr>
          <a:xfrm>
            <a:off x="5712085" y="3130525"/>
            <a:ext cx="2102729" cy="619450"/>
          </a:xfrm>
          <a:prstGeom prst="rect">
            <a:avLst/>
          </a:prstGeom>
          <a:noFill/>
          <a:ln>
            <a:noFill/>
          </a:ln>
        </p:spPr>
      </p:pic>
      <p:pic>
        <p:nvPicPr>
          <p:cNvPr id="190" name="Google Shape;190;p31"/>
          <p:cNvPicPr preferRelativeResize="0"/>
          <p:nvPr/>
        </p:nvPicPr>
        <p:blipFill rotWithShape="1">
          <a:blip r:embed="rId4">
            <a:alphaModFix/>
          </a:blip>
          <a:srcRect b="0" l="0" r="0" t="0"/>
          <a:stretch/>
        </p:blipFill>
        <p:spPr>
          <a:xfrm>
            <a:off x="9504750" y="3130525"/>
            <a:ext cx="1497000" cy="619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Parametrizing the Model</a:t>
            </a:r>
            <a:endParaRPr/>
          </a:p>
        </p:txBody>
      </p:sp>
      <p:pic>
        <p:nvPicPr>
          <p:cNvPr id="196" name="Google Shape;196;p32"/>
          <p:cNvPicPr preferRelativeResize="0"/>
          <p:nvPr/>
        </p:nvPicPr>
        <p:blipFill>
          <a:blip r:embed="rId3">
            <a:alphaModFix/>
          </a:blip>
          <a:stretch>
            <a:fillRect/>
          </a:stretch>
        </p:blipFill>
        <p:spPr>
          <a:xfrm>
            <a:off x="922975" y="1401225"/>
            <a:ext cx="6916224" cy="35552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Vote delay impact </a:t>
            </a:r>
            <a:endParaRPr/>
          </a:p>
        </p:txBody>
      </p:sp>
      <p:graphicFrame>
        <p:nvGraphicFramePr>
          <p:cNvPr id="202" name="Google Shape;202;p33"/>
          <p:cNvGraphicFramePr/>
          <p:nvPr/>
        </p:nvGraphicFramePr>
        <p:xfrm>
          <a:off x="311700" y="2017161"/>
          <a:ext cx="3000000" cy="3000000"/>
        </p:xfrm>
        <a:graphic>
          <a:graphicData uri="http://schemas.openxmlformats.org/drawingml/2006/table">
            <a:tbl>
              <a:tblPr>
                <a:noFill/>
                <a:tableStyleId>{B61CD78A-1505-4454-8DDA-799284A9CF8D}</a:tableStyleId>
              </a:tblPr>
              <a:tblGrid>
                <a:gridCol w="918100"/>
                <a:gridCol w="883450"/>
                <a:gridCol w="883450"/>
                <a:gridCol w="883450"/>
              </a:tblGrid>
              <a:tr h="381000">
                <a:tc>
                  <a:txBody>
                    <a:bodyPr/>
                    <a:lstStyle/>
                    <a:p>
                      <a:pPr indent="0" lvl="0" marL="0" rtl="0" algn="l">
                        <a:spcBef>
                          <a:spcPts val="0"/>
                        </a:spcBef>
                        <a:spcAft>
                          <a:spcPts val="0"/>
                        </a:spcAft>
                        <a:buNone/>
                      </a:pPr>
                      <a:r>
                        <a:rPr b="1" lang="it">
                          <a:latin typeface="Proxima Nova"/>
                          <a:ea typeface="Proxima Nova"/>
                          <a:cs typeface="Proxima Nova"/>
                          <a:sym typeface="Proxima Nova"/>
                        </a:rPr>
                        <a:t>Scenario</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c>
                  <a:txBody>
                    <a:bodyPr/>
                    <a:lstStyle/>
                    <a:p>
                      <a:pPr indent="0" lvl="0" marL="0" rtl="0" algn="l">
                        <a:lnSpc>
                          <a:spcPct val="115000"/>
                        </a:lnSpc>
                        <a:spcBef>
                          <a:spcPts val="2400"/>
                        </a:spcBef>
                        <a:spcAft>
                          <a:spcPts val="600"/>
                        </a:spcAft>
                        <a:buNone/>
                      </a:pPr>
                      <a:r>
                        <a:t/>
                      </a:r>
                      <a:endParaRPr b="1">
                        <a:latin typeface="Proxima Nova"/>
                        <a:ea typeface="Proxima Nova"/>
                        <a:cs typeface="Proxima Nova"/>
                        <a:sym typeface="Proxima Nova"/>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1</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1</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3</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25</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2</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2</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6</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27</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3</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3</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8</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28</a:t>
                      </a:r>
                      <a:endParaRPr>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4</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3</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10</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35</a:t>
                      </a:r>
                      <a:endParaRPr>
                        <a:latin typeface="Roboto Mono"/>
                        <a:ea typeface="Roboto Mono"/>
                        <a:cs typeface="Roboto Mono"/>
                        <a:sym typeface="Roboto Mono"/>
                      </a:endParaRPr>
                    </a:p>
                  </a:txBody>
                  <a:tcPr marT="91425" marB="91425" marR="91425" marL="91425"/>
                </a:tc>
              </a:tr>
            </a:tbl>
          </a:graphicData>
        </a:graphic>
      </p:graphicFrame>
      <p:pic>
        <p:nvPicPr>
          <p:cNvPr id="203" name="Google Shape;203;p33"/>
          <p:cNvPicPr preferRelativeResize="0"/>
          <p:nvPr/>
        </p:nvPicPr>
        <p:blipFill>
          <a:blip r:embed="rId3">
            <a:alphaModFix/>
          </a:blip>
          <a:stretch>
            <a:fillRect/>
          </a:stretch>
        </p:blipFill>
        <p:spPr>
          <a:xfrm>
            <a:off x="3983500" y="1867538"/>
            <a:ext cx="4959049" cy="3039714"/>
          </a:xfrm>
          <a:prstGeom prst="rect">
            <a:avLst/>
          </a:prstGeom>
          <a:noFill/>
          <a:ln>
            <a:noFill/>
          </a:ln>
        </p:spPr>
      </p:pic>
      <p:pic>
        <p:nvPicPr>
          <p:cNvPr id="204" name="Google Shape;204;p33"/>
          <p:cNvPicPr preferRelativeResize="0"/>
          <p:nvPr/>
        </p:nvPicPr>
        <p:blipFill>
          <a:blip r:embed="rId4">
            <a:alphaModFix/>
          </a:blip>
          <a:stretch>
            <a:fillRect/>
          </a:stretch>
        </p:blipFill>
        <p:spPr>
          <a:xfrm>
            <a:off x="4463625" y="445024"/>
            <a:ext cx="4260300" cy="1422518"/>
          </a:xfrm>
          <a:prstGeom prst="rect">
            <a:avLst/>
          </a:prstGeom>
          <a:noFill/>
          <a:ln>
            <a:noFill/>
          </a:ln>
        </p:spPr>
      </p:pic>
      <p:pic>
        <p:nvPicPr>
          <p:cNvPr id="205" name="Google Shape;205;p33"/>
          <p:cNvPicPr preferRelativeResize="0"/>
          <p:nvPr/>
        </p:nvPicPr>
        <p:blipFill>
          <a:blip r:embed="rId5">
            <a:alphaModFix/>
          </a:blip>
          <a:stretch>
            <a:fillRect/>
          </a:stretch>
        </p:blipFill>
        <p:spPr>
          <a:xfrm>
            <a:off x="1375345" y="2125327"/>
            <a:ext cx="584950" cy="241625"/>
          </a:xfrm>
          <a:prstGeom prst="rect">
            <a:avLst/>
          </a:prstGeom>
          <a:noFill/>
          <a:ln>
            <a:noFill/>
          </a:ln>
        </p:spPr>
      </p:pic>
      <p:pic>
        <p:nvPicPr>
          <p:cNvPr id="206" name="Google Shape;206;p33"/>
          <p:cNvPicPr preferRelativeResize="0"/>
          <p:nvPr/>
        </p:nvPicPr>
        <p:blipFill>
          <a:blip r:embed="rId6">
            <a:alphaModFix/>
          </a:blip>
          <a:stretch>
            <a:fillRect/>
          </a:stretch>
        </p:blipFill>
        <p:spPr>
          <a:xfrm>
            <a:off x="2181024" y="2080739"/>
            <a:ext cx="748125" cy="292180"/>
          </a:xfrm>
          <a:prstGeom prst="rect">
            <a:avLst/>
          </a:prstGeom>
          <a:noFill/>
          <a:ln>
            <a:noFill/>
          </a:ln>
        </p:spPr>
      </p:pic>
      <p:pic>
        <p:nvPicPr>
          <p:cNvPr id="207" name="Google Shape;207;p33"/>
          <p:cNvPicPr preferRelativeResize="0"/>
          <p:nvPr/>
        </p:nvPicPr>
        <p:blipFill>
          <a:blip r:embed="rId7">
            <a:alphaModFix/>
          </a:blip>
          <a:stretch>
            <a:fillRect/>
          </a:stretch>
        </p:blipFill>
        <p:spPr>
          <a:xfrm>
            <a:off x="3194119" y="2095391"/>
            <a:ext cx="519033" cy="292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Vote delay impact </a:t>
            </a:r>
            <a:endParaRPr/>
          </a:p>
        </p:txBody>
      </p:sp>
      <p:graphicFrame>
        <p:nvGraphicFramePr>
          <p:cNvPr id="213" name="Google Shape;213;p34"/>
          <p:cNvGraphicFramePr/>
          <p:nvPr/>
        </p:nvGraphicFramePr>
        <p:xfrm>
          <a:off x="311700" y="2017161"/>
          <a:ext cx="3000000" cy="3000000"/>
        </p:xfrm>
        <a:graphic>
          <a:graphicData uri="http://schemas.openxmlformats.org/drawingml/2006/table">
            <a:tbl>
              <a:tblPr>
                <a:noFill/>
                <a:tableStyleId>{B61CD78A-1505-4454-8DDA-799284A9CF8D}</a:tableStyleId>
              </a:tblPr>
              <a:tblGrid>
                <a:gridCol w="918100"/>
                <a:gridCol w="883450"/>
                <a:gridCol w="883450"/>
                <a:gridCol w="883450"/>
              </a:tblGrid>
              <a:tr h="381000">
                <a:tc>
                  <a:txBody>
                    <a:bodyPr/>
                    <a:lstStyle/>
                    <a:p>
                      <a:pPr indent="0" lvl="0" marL="0" rtl="0" algn="l">
                        <a:spcBef>
                          <a:spcPts val="0"/>
                        </a:spcBef>
                        <a:spcAft>
                          <a:spcPts val="0"/>
                        </a:spcAft>
                        <a:buNone/>
                      </a:pPr>
                      <a:r>
                        <a:rPr b="1" lang="it">
                          <a:latin typeface="Proxima Nova"/>
                          <a:ea typeface="Proxima Nova"/>
                          <a:cs typeface="Proxima Nova"/>
                          <a:sym typeface="Proxima Nova"/>
                        </a:rPr>
                        <a:t>Scenario</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c>
                  <a:txBody>
                    <a:bodyPr/>
                    <a:lstStyle/>
                    <a:p>
                      <a:pPr indent="0" lvl="0" marL="0" rtl="0" algn="l">
                        <a:lnSpc>
                          <a:spcPct val="115000"/>
                        </a:lnSpc>
                        <a:spcBef>
                          <a:spcPts val="2400"/>
                        </a:spcBef>
                        <a:spcAft>
                          <a:spcPts val="600"/>
                        </a:spcAft>
                        <a:buNone/>
                      </a:pPr>
                      <a:r>
                        <a:t/>
                      </a:r>
                      <a:endParaRPr b="1">
                        <a:latin typeface="Proxima Nova"/>
                        <a:ea typeface="Proxima Nova"/>
                        <a:cs typeface="Proxima Nova"/>
                        <a:sym typeface="Proxima Nova"/>
                      </a:endParaRPr>
                    </a:p>
                  </a:txBody>
                  <a:tcPr marT="91425" marB="91425" marR="91425" marL="91425"/>
                </a:tc>
              </a:tr>
              <a:tr h="381000">
                <a:tc>
                  <a:txBody>
                    <a:bodyPr/>
                    <a:lstStyle/>
                    <a:p>
                      <a:pPr indent="0" lvl="0" marL="0" rtl="0" algn="l">
                        <a:spcBef>
                          <a:spcPts val="0"/>
                        </a:spcBef>
                        <a:spcAft>
                          <a:spcPts val="0"/>
                        </a:spcAft>
                        <a:buNone/>
                      </a:pPr>
                      <a:r>
                        <a:rPr lang="it">
                          <a:solidFill>
                            <a:srgbClr val="999999"/>
                          </a:solidFill>
                          <a:latin typeface="Proxima Nova"/>
                          <a:ea typeface="Proxima Nova"/>
                          <a:cs typeface="Proxima Nova"/>
                          <a:sym typeface="Proxima Nova"/>
                        </a:rPr>
                        <a:t>1</a:t>
                      </a:r>
                      <a:endParaRPr>
                        <a:solidFill>
                          <a:srgbClr val="999999"/>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1</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3</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25</a:t>
                      </a:r>
                      <a:endParaRPr>
                        <a:solidFill>
                          <a:srgbClr val="999999"/>
                        </a:solidFill>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solidFill>
                            <a:srgbClr val="999999"/>
                          </a:solidFill>
                          <a:latin typeface="Proxima Nova"/>
                          <a:ea typeface="Proxima Nova"/>
                          <a:cs typeface="Proxima Nova"/>
                          <a:sym typeface="Proxima Nova"/>
                        </a:rPr>
                        <a:t>2</a:t>
                      </a:r>
                      <a:endParaRPr>
                        <a:solidFill>
                          <a:srgbClr val="999999"/>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2</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6</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27</a:t>
                      </a:r>
                      <a:endParaRPr>
                        <a:solidFill>
                          <a:srgbClr val="999999"/>
                        </a:solidFill>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solidFill>
                            <a:srgbClr val="999999"/>
                          </a:solidFill>
                          <a:latin typeface="Proxima Nova"/>
                          <a:ea typeface="Proxima Nova"/>
                          <a:cs typeface="Proxima Nova"/>
                          <a:sym typeface="Proxima Nova"/>
                        </a:rPr>
                        <a:t>3</a:t>
                      </a:r>
                      <a:endParaRPr>
                        <a:solidFill>
                          <a:srgbClr val="999999"/>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3</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8</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28</a:t>
                      </a:r>
                      <a:endParaRPr>
                        <a:solidFill>
                          <a:srgbClr val="999999"/>
                        </a:solidFill>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solidFill>
                            <a:srgbClr val="999999"/>
                          </a:solidFill>
                          <a:latin typeface="Proxima Nova"/>
                          <a:ea typeface="Proxima Nova"/>
                          <a:cs typeface="Proxima Nova"/>
                          <a:sym typeface="Proxima Nova"/>
                        </a:rPr>
                        <a:t>4</a:t>
                      </a:r>
                      <a:endParaRPr>
                        <a:solidFill>
                          <a:srgbClr val="999999"/>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3</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10</a:t>
                      </a:r>
                      <a:endParaRPr>
                        <a:solidFill>
                          <a:srgbClr val="999999"/>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solidFill>
                            <a:srgbClr val="999999"/>
                          </a:solidFill>
                          <a:latin typeface="Roboto Mono"/>
                          <a:ea typeface="Roboto Mono"/>
                          <a:cs typeface="Roboto Mono"/>
                          <a:sym typeface="Roboto Mono"/>
                        </a:rPr>
                        <a:t>35</a:t>
                      </a:r>
                      <a:endParaRPr>
                        <a:solidFill>
                          <a:srgbClr val="999999"/>
                        </a:solidFill>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it">
                          <a:latin typeface="Proxima Nova"/>
                          <a:ea typeface="Proxima Nova"/>
                          <a:cs typeface="Proxima Nova"/>
                          <a:sym typeface="Proxima Nova"/>
                        </a:rPr>
                        <a:t>5</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2</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9</a:t>
                      </a:r>
                      <a:endParaRPr>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it">
                          <a:latin typeface="Roboto Mono"/>
                          <a:ea typeface="Roboto Mono"/>
                          <a:cs typeface="Roboto Mono"/>
                          <a:sym typeface="Roboto Mono"/>
                        </a:rPr>
                        <a:t>30</a:t>
                      </a:r>
                      <a:endParaRPr>
                        <a:latin typeface="Roboto Mono"/>
                        <a:ea typeface="Roboto Mono"/>
                        <a:cs typeface="Roboto Mono"/>
                        <a:sym typeface="Roboto Mono"/>
                      </a:endParaRPr>
                    </a:p>
                  </a:txBody>
                  <a:tcPr marT="91425" marB="91425" marR="91425" marL="91425"/>
                </a:tc>
              </a:tr>
            </a:tbl>
          </a:graphicData>
        </a:graphic>
      </p:graphicFrame>
      <p:pic>
        <p:nvPicPr>
          <p:cNvPr id="214" name="Google Shape;214;p34"/>
          <p:cNvPicPr preferRelativeResize="0"/>
          <p:nvPr/>
        </p:nvPicPr>
        <p:blipFill>
          <a:blip r:embed="rId3">
            <a:alphaModFix amt="60000"/>
          </a:blip>
          <a:stretch>
            <a:fillRect/>
          </a:stretch>
        </p:blipFill>
        <p:spPr>
          <a:xfrm>
            <a:off x="3983500" y="1867538"/>
            <a:ext cx="4959049" cy="3039714"/>
          </a:xfrm>
          <a:prstGeom prst="rect">
            <a:avLst/>
          </a:prstGeom>
          <a:noFill/>
          <a:ln>
            <a:noFill/>
          </a:ln>
        </p:spPr>
      </p:pic>
      <p:pic>
        <p:nvPicPr>
          <p:cNvPr id="215" name="Google Shape;215;p34"/>
          <p:cNvPicPr preferRelativeResize="0"/>
          <p:nvPr/>
        </p:nvPicPr>
        <p:blipFill>
          <a:blip r:embed="rId4">
            <a:alphaModFix/>
          </a:blip>
          <a:stretch>
            <a:fillRect/>
          </a:stretch>
        </p:blipFill>
        <p:spPr>
          <a:xfrm>
            <a:off x="1375345" y="2125327"/>
            <a:ext cx="584950" cy="241625"/>
          </a:xfrm>
          <a:prstGeom prst="rect">
            <a:avLst/>
          </a:prstGeom>
          <a:noFill/>
          <a:ln>
            <a:noFill/>
          </a:ln>
        </p:spPr>
      </p:pic>
      <p:pic>
        <p:nvPicPr>
          <p:cNvPr id="216" name="Google Shape;216;p34"/>
          <p:cNvPicPr preferRelativeResize="0"/>
          <p:nvPr/>
        </p:nvPicPr>
        <p:blipFill>
          <a:blip r:embed="rId5">
            <a:alphaModFix/>
          </a:blip>
          <a:stretch>
            <a:fillRect/>
          </a:stretch>
        </p:blipFill>
        <p:spPr>
          <a:xfrm>
            <a:off x="2181024" y="2080739"/>
            <a:ext cx="748125" cy="292180"/>
          </a:xfrm>
          <a:prstGeom prst="rect">
            <a:avLst/>
          </a:prstGeom>
          <a:noFill/>
          <a:ln>
            <a:noFill/>
          </a:ln>
        </p:spPr>
      </p:pic>
      <p:pic>
        <p:nvPicPr>
          <p:cNvPr id="217" name="Google Shape;217;p34"/>
          <p:cNvPicPr preferRelativeResize="0"/>
          <p:nvPr/>
        </p:nvPicPr>
        <p:blipFill>
          <a:blip r:embed="rId6">
            <a:alphaModFix/>
          </a:blip>
          <a:stretch>
            <a:fillRect/>
          </a:stretch>
        </p:blipFill>
        <p:spPr>
          <a:xfrm>
            <a:off x="3194119" y="2095391"/>
            <a:ext cx="519033" cy="292175"/>
          </a:xfrm>
          <a:prstGeom prst="rect">
            <a:avLst/>
          </a:prstGeom>
          <a:noFill/>
          <a:ln>
            <a:noFill/>
          </a:ln>
        </p:spPr>
      </p:pic>
      <p:cxnSp>
        <p:nvCxnSpPr>
          <p:cNvPr id="218" name="Google Shape;218;p34"/>
          <p:cNvCxnSpPr/>
          <p:nvPr/>
        </p:nvCxnSpPr>
        <p:spPr>
          <a:xfrm>
            <a:off x="4489625" y="3006803"/>
            <a:ext cx="4257900" cy="0"/>
          </a:xfrm>
          <a:prstGeom prst="straightConnector1">
            <a:avLst/>
          </a:prstGeom>
          <a:noFill/>
          <a:ln cap="flat" cmpd="sng" w="9525">
            <a:solidFill>
              <a:srgbClr val="FF00FF"/>
            </a:solidFill>
            <a:prstDash val="dash"/>
            <a:round/>
            <a:headEnd len="med" w="med" type="none"/>
            <a:tailEnd len="med" w="med" type="none"/>
          </a:ln>
        </p:spPr>
      </p:cxnSp>
      <p:cxnSp>
        <p:nvCxnSpPr>
          <p:cNvPr id="219" name="Google Shape;219;p34"/>
          <p:cNvCxnSpPr/>
          <p:nvPr/>
        </p:nvCxnSpPr>
        <p:spPr>
          <a:xfrm>
            <a:off x="4489625" y="3006803"/>
            <a:ext cx="4257900" cy="154500"/>
          </a:xfrm>
          <a:prstGeom prst="straightConnector1">
            <a:avLst/>
          </a:prstGeom>
          <a:noFill/>
          <a:ln cap="flat" cmpd="sng" w="9525">
            <a:solidFill>
              <a:srgbClr val="FF00FF"/>
            </a:solidFill>
            <a:prstDash val="solid"/>
            <a:round/>
            <a:headEnd len="med" w="med" type="none"/>
            <a:tailEnd len="med" w="med" type="none"/>
          </a:ln>
        </p:spPr>
      </p:cxnSp>
      <p:pic>
        <p:nvPicPr>
          <p:cNvPr id="220" name="Google Shape;220;p34"/>
          <p:cNvPicPr preferRelativeResize="0"/>
          <p:nvPr/>
        </p:nvPicPr>
        <p:blipFill>
          <a:blip r:embed="rId7">
            <a:alphaModFix/>
          </a:blip>
          <a:stretch>
            <a:fillRect/>
          </a:stretch>
        </p:blipFill>
        <p:spPr>
          <a:xfrm>
            <a:off x="4249980" y="2956725"/>
            <a:ext cx="224825" cy="92575"/>
          </a:xfrm>
          <a:prstGeom prst="rect">
            <a:avLst/>
          </a:prstGeom>
          <a:noFill/>
          <a:ln>
            <a:noFill/>
          </a:ln>
        </p:spPr>
      </p:pic>
      <p:pic>
        <p:nvPicPr>
          <p:cNvPr id="221" name="Google Shape;221;p34"/>
          <p:cNvPicPr preferRelativeResize="0"/>
          <p:nvPr/>
        </p:nvPicPr>
        <p:blipFill>
          <a:blip r:embed="rId8">
            <a:alphaModFix/>
          </a:blip>
          <a:stretch>
            <a:fillRect/>
          </a:stretch>
        </p:blipFill>
        <p:spPr>
          <a:xfrm>
            <a:off x="8775550" y="3119775"/>
            <a:ext cx="224825" cy="85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Mitigation</a:t>
            </a:r>
            <a:r>
              <a:rPr lang="it" sz="1500">
                <a:solidFill>
                  <a:srgbClr val="666666"/>
                </a:solidFill>
                <a:latin typeface="Arial"/>
                <a:ea typeface="Arial"/>
                <a:cs typeface="Arial"/>
                <a:sym typeface="Arial"/>
              </a:rPr>
              <a:t> </a:t>
            </a:r>
            <a:r>
              <a:rPr lang="it"/>
              <a:t>Strategy</a:t>
            </a:r>
            <a:endParaRPr/>
          </a:p>
        </p:txBody>
      </p:sp>
      <p:sp>
        <p:nvSpPr>
          <p:cNvPr id="227" name="Google Shape;227;p35"/>
          <p:cNvSpPr txBox="1"/>
          <p:nvPr>
            <p:ph idx="1" type="body"/>
          </p:nvPr>
        </p:nvSpPr>
        <p:spPr>
          <a:xfrm>
            <a:off x="311700" y="107170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it" sz="1829"/>
              <a:t>To discourage opportunistic validator behavior, the following mitigation strategies should be implemented:</a:t>
            </a:r>
            <a:endParaRPr sz="1829"/>
          </a:p>
          <a:p>
            <a:pPr indent="-344805" lvl="0" marL="457200" rtl="0" algn="l">
              <a:lnSpc>
                <a:spcPct val="95000"/>
              </a:lnSpc>
              <a:spcBef>
                <a:spcPts val="1200"/>
              </a:spcBef>
              <a:spcAft>
                <a:spcPts val="0"/>
              </a:spcAft>
              <a:buSzPts val="1830"/>
              <a:buChar char="●"/>
            </a:pPr>
            <a:r>
              <a:rPr b="1" lang="it" sz="1829"/>
              <a:t>Blind Voting</a:t>
            </a:r>
            <a:r>
              <a:rPr lang="it" sz="1829"/>
              <a:t>: validators cannot observe others votes before submitting their own, preventing strategic free-riding</a:t>
            </a:r>
            <a:endParaRPr sz="1829"/>
          </a:p>
          <a:p>
            <a:pPr indent="-344805" lvl="0" marL="457200" rtl="0" algn="l">
              <a:lnSpc>
                <a:spcPct val="95000"/>
              </a:lnSpc>
              <a:spcBef>
                <a:spcPts val="0"/>
              </a:spcBef>
              <a:spcAft>
                <a:spcPts val="0"/>
              </a:spcAft>
              <a:buSzPts val="1830"/>
              <a:buChar char="●"/>
            </a:pPr>
            <a:r>
              <a:rPr b="1" lang="it" sz="1829"/>
              <a:t>Invalid Block Injection</a:t>
            </a:r>
            <a:r>
              <a:rPr lang="it" sz="1829"/>
              <a:t>:  the system deliberately introduces invalid blocks at a controlled rate and, given that only validators who verify blocks can detect invalidity, those that vote blindly will be exposed</a:t>
            </a:r>
            <a:endParaRPr sz="1829"/>
          </a:p>
          <a:p>
            <a:pPr indent="-344805" lvl="0" marL="457200" rtl="0" algn="l">
              <a:lnSpc>
                <a:spcPct val="95000"/>
              </a:lnSpc>
              <a:spcBef>
                <a:spcPts val="0"/>
              </a:spcBef>
              <a:spcAft>
                <a:spcPts val="0"/>
              </a:spcAft>
              <a:buSzPts val="1830"/>
              <a:buChar char="●"/>
            </a:pPr>
            <a:r>
              <a:rPr b="1" lang="it" sz="1829"/>
              <a:t>Punishment Mechanism</a:t>
            </a:r>
            <a:r>
              <a:rPr lang="it" sz="1829"/>
              <a:t>: validators who vote against the consensus receive a </a:t>
            </a:r>
            <a:r>
              <a:rPr lang="it" sz="1829"/>
              <a:t>penalty</a:t>
            </a:r>
            <a:r>
              <a:rPr lang="it" sz="1829"/>
              <a:t>, which disincentives dishonest behavior</a:t>
            </a:r>
            <a:endParaRPr sz="1829"/>
          </a:p>
          <a:p>
            <a:pPr indent="0" lvl="0" marL="0" rtl="0" algn="l">
              <a:lnSpc>
                <a:spcPct val="95000"/>
              </a:lnSpc>
              <a:spcBef>
                <a:spcPts val="1200"/>
              </a:spcBef>
              <a:spcAft>
                <a:spcPts val="1200"/>
              </a:spcAft>
              <a:buSzPts val="935"/>
              <a:buNone/>
            </a:pPr>
            <a:r>
              <a:rPr lang="it" sz="1829"/>
              <a:t>Only the combination of these mechanisms provides effective mitigation of the Verifier’s Dilemma.</a:t>
            </a:r>
            <a:endParaRPr sz="1829"/>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Unfair Validator with Punish</a:t>
            </a:r>
            <a:endParaRPr/>
          </a:p>
        </p:txBody>
      </p:sp>
      <p:pic>
        <p:nvPicPr>
          <p:cNvPr id="233" name="Google Shape;233;p36"/>
          <p:cNvPicPr preferRelativeResize="0"/>
          <p:nvPr/>
        </p:nvPicPr>
        <p:blipFill>
          <a:blip r:embed="rId3">
            <a:alphaModFix/>
          </a:blip>
          <a:stretch>
            <a:fillRect/>
          </a:stretch>
        </p:blipFill>
        <p:spPr>
          <a:xfrm>
            <a:off x="509966" y="3014466"/>
            <a:ext cx="8124059" cy="572700"/>
          </a:xfrm>
          <a:prstGeom prst="rect">
            <a:avLst/>
          </a:prstGeom>
          <a:noFill/>
          <a:ln>
            <a:noFill/>
          </a:ln>
        </p:spPr>
      </p:pic>
      <p:sp>
        <p:nvSpPr>
          <p:cNvPr id="234" name="Google Shape;234;p36"/>
          <p:cNvSpPr txBox="1"/>
          <p:nvPr>
            <p:ph idx="1" type="body"/>
          </p:nvPr>
        </p:nvSpPr>
        <p:spPr>
          <a:xfrm>
            <a:off x="311700" y="1161861"/>
            <a:ext cx="8520600" cy="2000700"/>
          </a:xfrm>
          <a:prstGeom prst="rect">
            <a:avLst/>
          </a:prstGeom>
        </p:spPr>
        <p:txBody>
          <a:bodyPr anchorCtr="0" anchor="t" bIns="91425" lIns="91425" spcFirstLastPara="1" rIns="91425" wrap="square" tIns="91425">
            <a:noAutofit/>
          </a:bodyPr>
          <a:lstStyle/>
          <a:p>
            <a:pPr indent="0" lvl="0" marL="0" rtl="0" algn="l">
              <a:spcBef>
                <a:spcPts val="2400"/>
              </a:spcBef>
              <a:spcAft>
                <a:spcPts val="600"/>
              </a:spcAft>
              <a:buNone/>
            </a:pPr>
            <a:r>
              <a:rPr lang="it">
                <a:solidFill>
                  <a:srgbClr val="666666"/>
                </a:solidFill>
                <a:latin typeface="Arial"/>
                <a:ea typeface="Arial"/>
                <a:cs typeface="Arial"/>
                <a:sym typeface="Arial"/>
              </a:rPr>
              <a:t>With the punishment component we have that with a certain probability ε the Unfair Validator will incorrectly vote for the validity of a block, i.e., the casted vote is </a:t>
            </a:r>
            <a:r>
              <a:rPr lang="it">
                <a:solidFill>
                  <a:srgbClr val="666666"/>
                </a:solidFill>
                <a:latin typeface="Arial"/>
                <a:ea typeface="Arial"/>
                <a:cs typeface="Arial"/>
                <a:sym typeface="Arial"/>
              </a:rPr>
              <a:t>against the consensus.</a:t>
            </a:r>
            <a:endParaRPr>
              <a:solidFill>
                <a:srgbClr val="666666"/>
              </a:solidFill>
              <a:latin typeface="Arial"/>
              <a:ea typeface="Arial"/>
              <a:cs typeface="Arial"/>
              <a:sym typeface="Arial"/>
            </a:endParaRPr>
          </a:p>
        </p:txBody>
      </p:sp>
      <p:pic>
        <p:nvPicPr>
          <p:cNvPr id="235" name="Google Shape;235;p36"/>
          <p:cNvPicPr preferRelativeResize="0"/>
          <p:nvPr/>
        </p:nvPicPr>
        <p:blipFill>
          <a:blip r:embed="rId4">
            <a:alphaModFix/>
          </a:blip>
          <a:stretch>
            <a:fillRect/>
          </a:stretch>
        </p:blipFill>
        <p:spPr>
          <a:xfrm>
            <a:off x="2162575" y="3601246"/>
            <a:ext cx="4818850" cy="427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a:t>Unfair Validator with Punish</a:t>
            </a:r>
            <a:endParaRPr/>
          </a:p>
        </p:txBody>
      </p:sp>
      <p:sp>
        <p:nvSpPr>
          <p:cNvPr id="241" name="Google Shape;241;p37"/>
          <p:cNvSpPr txBox="1"/>
          <p:nvPr>
            <p:ph idx="1" type="body"/>
          </p:nvPr>
        </p:nvSpPr>
        <p:spPr>
          <a:xfrm>
            <a:off x="311700" y="1161861"/>
            <a:ext cx="8520600" cy="2000700"/>
          </a:xfrm>
          <a:prstGeom prst="rect">
            <a:avLst/>
          </a:prstGeom>
        </p:spPr>
        <p:txBody>
          <a:bodyPr anchorCtr="0" anchor="t" bIns="91425" lIns="91425" spcFirstLastPara="1" rIns="91425" wrap="square" tIns="91425">
            <a:noAutofit/>
          </a:bodyPr>
          <a:lstStyle/>
          <a:p>
            <a:pPr indent="0" lvl="0" marL="0" rtl="0" algn="l">
              <a:spcBef>
                <a:spcPts val="2400"/>
              </a:spcBef>
              <a:spcAft>
                <a:spcPts val="600"/>
              </a:spcAft>
              <a:buNone/>
            </a:pPr>
            <a:r>
              <a:rPr lang="it">
                <a:solidFill>
                  <a:srgbClr val="666666"/>
                </a:solidFill>
                <a:latin typeface="Arial"/>
                <a:ea typeface="Arial"/>
                <a:cs typeface="Arial"/>
                <a:sym typeface="Arial"/>
              </a:rPr>
              <a:t>Here is a comparison of the reward </a:t>
            </a:r>
            <a:r>
              <a:rPr lang="it">
                <a:solidFill>
                  <a:srgbClr val="666666"/>
                </a:solidFill>
                <a:latin typeface="Arial"/>
                <a:ea typeface="Arial"/>
                <a:cs typeface="Arial"/>
                <a:sym typeface="Arial"/>
              </a:rPr>
              <a:t>functions</a:t>
            </a:r>
            <a:endParaRPr>
              <a:solidFill>
                <a:srgbClr val="666666"/>
              </a:solidFill>
              <a:latin typeface="Arial"/>
              <a:ea typeface="Arial"/>
              <a:cs typeface="Arial"/>
              <a:sym typeface="Arial"/>
            </a:endParaRPr>
          </a:p>
        </p:txBody>
      </p:sp>
      <p:pic>
        <p:nvPicPr>
          <p:cNvPr id="242" name="Google Shape;242;p37"/>
          <p:cNvPicPr preferRelativeResize="0"/>
          <p:nvPr/>
        </p:nvPicPr>
        <p:blipFill>
          <a:blip r:embed="rId3">
            <a:alphaModFix/>
          </a:blip>
          <a:stretch>
            <a:fillRect/>
          </a:stretch>
        </p:blipFill>
        <p:spPr>
          <a:xfrm>
            <a:off x="1998281" y="1607712"/>
            <a:ext cx="5147440" cy="1644025"/>
          </a:xfrm>
          <a:prstGeom prst="rect">
            <a:avLst/>
          </a:prstGeom>
          <a:noFill/>
          <a:ln>
            <a:noFill/>
          </a:ln>
        </p:spPr>
      </p:pic>
      <p:pic>
        <p:nvPicPr>
          <p:cNvPr id="243" name="Google Shape;243;p37"/>
          <p:cNvPicPr preferRelativeResize="0"/>
          <p:nvPr/>
        </p:nvPicPr>
        <p:blipFill>
          <a:blip r:embed="rId4">
            <a:alphaModFix/>
          </a:blip>
          <a:stretch>
            <a:fillRect/>
          </a:stretch>
        </p:blipFill>
        <p:spPr>
          <a:xfrm>
            <a:off x="1998250" y="3251752"/>
            <a:ext cx="5147501" cy="1644025"/>
          </a:xfrm>
          <a:prstGeom prst="rect">
            <a:avLst/>
          </a:prstGeom>
          <a:noFill/>
          <a:ln>
            <a:noFill/>
          </a:ln>
        </p:spPr>
      </p:pic>
      <p:pic>
        <p:nvPicPr>
          <p:cNvPr id="244" name="Google Shape;244;p37"/>
          <p:cNvPicPr preferRelativeResize="0"/>
          <p:nvPr/>
        </p:nvPicPr>
        <p:blipFill>
          <a:blip r:embed="rId5">
            <a:alphaModFix/>
          </a:blip>
          <a:stretch>
            <a:fillRect/>
          </a:stretch>
        </p:blipFill>
        <p:spPr>
          <a:xfrm>
            <a:off x="846544" y="4347994"/>
            <a:ext cx="2636375" cy="547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Complete Model with Punish</a:t>
            </a:r>
            <a:endParaRPr/>
          </a:p>
        </p:txBody>
      </p:sp>
      <p:sp>
        <p:nvSpPr>
          <p:cNvPr id="250" name="Google Shape;250;p38"/>
          <p:cNvSpPr/>
          <p:nvPr/>
        </p:nvSpPr>
        <p:spPr>
          <a:xfrm rot="-1969193">
            <a:off x="1891840" y="2275587"/>
            <a:ext cx="4945213" cy="592323"/>
          </a:xfrm>
          <a:prstGeom prst="rect">
            <a:avLst/>
          </a:prstGeom>
        </p:spPr>
        <p:txBody>
          <a:bodyPr>
            <a:prstTxWarp prst="textPlain"/>
          </a:bodyPr>
          <a:lstStyle/>
          <a:p>
            <a:pPr lvl="0" algn="ctr"/>
            <a:r>
              <a:rPr b="0" i="0">
                <a:ln cap="flat" cmpd="sng" w="9525">
                  <a:solidFill>
                    <a:srgbClr val="FF0000"/>
                  </a:solidFill>
                  <a:prstDash val="solid"/>
                  <a:round/>
                  <a:headEnd len="sm" w="sm" type="none"/>
                  <a:tailEnd len="sm" w="sm" type="none"/>
                </a:ln>
                <a:solidFill>
                  <a:srgbClr val="FF0000"/>
                </a:solidFill>
                <a:latin typeface="Arial"/>
              </a:rPr>
              <a:t>IL PAPER NON HA IL PEPA COMPLETO DECENTE</a:t>
            </a:r>
          </a:p>
        </p:txBody>
      </p:sp>
      <p:pic>
        <p:nvPicPr>
          <p:cNvPr id="251" name="Google Shape;251;p38"/>
          <p:cNvPicPr preferRelativeResize="0"/>
          <p:nvPr/>
        </p:nvPicPr>
        <p:blipFill>
          <a:blip r:embed="rId3">
            <a:alphaModFix/>
          </a:blip>
          <a:stretch>
            <a:fillRect/>
          </a:stretch>
        </p:blipFill>
        <p:spPr>
          <a:xfrm>
            <a:off x="1285838" y="982700"/>
            <a:ext cx="6157224" cy="39505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Derivation Graph</a:t>
            </a:r>
            <a:endParaRPr/>
          </a:p>
          <a:p>
            <a:pPr indent="0" lvl="0" marL="0" rtl="0" algn="l">
              <a:spcBef>
                <a:spcPts val="0"/>
              </a:spcBef>
              <a:spcAft>
                <a:spcPts val="0"/>
              </a:spcAft>
              <a:buNone/>
            </a:pPr>
            <a:r>
              <a:t/>
            </a:r>
            <a:endParaRPr/>
          </a:p>
        </p:txBody>
      </p:sp>
      <p:pic>
        <p:nvPicPr>
          <p:cNvPr id="257" name="Google Shape;257;p39"/>
          <p:cNvPicPr preferRelativeResize="0"/>
          <p:nvPr/>
        </p:nvPicPr>
        <p:blipFill>
          <a:blip r:embed="rId3">
            <a:alphaModFix/>
          </a:blip>
          <a:stretch>
            <a:fillRect/>
          </a:stretch>
        </p:blipFill>
        <p:spPr>
          <a:xfrm>
            <a:off x="1720351" y="1322250"/>
            <a:ext cx="3110774" cy="3193274"/>
          </a:xfrm>
          <a:prstGeom prst="rect">
            <a:avLst/>
          </a:prstGeom>
          <a:noFill/>
          <a:ln>
            <a:noFill/>
          </a:ln>
        </p:spPr>
      </p:pic>
      <p:pic>
        <p:nvPicPr>
          <p:cNvPr id="258" name="Google Shape;258;p39"/>
          <p:cNvPicPr preferRelativeResize="0"/>
          <p:nvPr/>
        </p:nvPicPr>
        <p:blipFill>
          <a:blip r:embed="rId4">
            <a:alphaModFix/>
          </a:blip>
          <a:stretch>
            <a:fillRect/>
          </a:stretch>
        </p:blipFill>
        <p:spPr>
          <a:xfrm>
            <a:off x="5069375" y="1777327"/>
            <a:ext cx="3719401" cy="2241925"/>
          </a:xfrm>
          <a:prstGeom prst="rect">
            <a:avLst/>
          </a:prstGeom>
          <a:noFill/>
          <a:ln>
            <a:noFill/>
          </a:ln>
        </p:spPr>
      </p:pic>
      <p:pic>
        <p:nvPicPr>
          <p:cNvPr id="259" name="Google Shape;259;p39"/>
          <p:cNvPicPr preferRelativeResize="0"/>
          <p:nvPr/>
        </p:nvPicPr>
        <p:blipFill>
          <a:blip r:embed="rId5">
            <a:alphaModFix/>
          </a:blip>
          <a:stretch>
            <a:fillRect/>
          </a:stretch>
        </p:blipFill>
        <p:spPr>
          <a:xfrm>
            <a:off x="-1625275" y="1041625"/>
            <a:ext cx="1505950" cy="9998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761800" y="1017723"/>
            <a:ext cx="2222900" cy="805125"/>
          </a:xfrm>
          <a:prstGeom prst="rect">
            <a:avLst/>
          </a:prstGeom>
          <a:noFill/>
          <a:ln>
            <a:noFill/>
          </a:ln>
        </p:spPr>
      </p:pic>
      <p:pic>
        <p:nvPicPr>
          <p:cNvPr id="261" name="Google Shape;261;p39"/>
          <p:cNvPicPr preferRelativeResize="0"/>
          <p:nvPr/>
        </p:nvPicPr>
        <p:blipFill>
          <a:blip r:embed="rId7">
            <a:alphaModFix/>
          </a:blip>
          <a:stretch>
            <a:fillRect/>
          </a:stretch>
        </p:blipFill>
        <p:spPr>
          <a:xfrm>
            <a:off x="89775" y="1017725"/>
            <a:ext cx="1678525" cy="2852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Lumpability</a:t>
            </a:r>
            <a:endParaRPr/>
          </a:p>
        </p:txBody>
      </p:sp>
      <p:sp>
        <p:nvSpPr>
          <p:cNvPr id="267" name="Google Shape;26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We firstly need to define a partition of the previously found states that can be considered equivalent. In this </a:t>
            </a:r>
            <a:r>
              <a:rPr lang="it"/>
              <a:t>case,</a:t>
            </a:r>
            <a:r>
              <a:rPr lang="it"/>
              <a:t> we can aggregate the states such that we reconduct the latest derivation graph to the starting one.</a:t>
            </a:r>
            <a:endParaRPr/>
          </a:p>
        </p:txBody>
      </p:sp>
      <p:pic>
        <p:nvPicPr>
          <p:cNvPr id="268" name="Google Shape;268;p40"/>
          <p:cNvPicPr preferRelativeResize="0"/>
          <p:nvPr/>
        </p:nvPicPr>
        <p:blipFill>
          <a:blip r:embed="rId3">
            <a:alphaModFix/>
          </a:blip>
          <a:stretch>
            <a:fillRect/>
          </a:stretch>
        </p:blipFill>
        <p:spPr>
          <a:xfrm>
            <a:off x="1427212" y="2154127"/>
            <a:ext cx="6289573" cy="2689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Lumpability</a:t>
            </a:r>
            <a:endParaRPr/>
          </a:p>
        </p:txBody>
      </p:sp>
      <p:sp>
        <p:nvSpPr>
          <p:cNvPr id="274" name="Google Shape;27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We firstly need to define a partition of the previously found states that can be considered equivalent. In this case, we can aggregate the states such that we reconduct the latest derivation graph to the starting one.</a:t>
            </a:r>
            <a:endParaRPr/>
          </a:p>
        </p:txBody>
      </p:sp>
      <p:pic>
        <p:nvPicPr>
          <p:cNvPr id="275" name="Google Shape;275;p41"/>
          <p:cNvPicPr preferRelativeResize="0"/>
          <p:nvPr/>
        </p:nvPicPr>
        <p:blipFill>
          <a:blip r:embed="rId3">
            <a:alphaModFix/>
          </a:blip>
          <a:stretch>
            <a:fillRect/>
          </a:stretch>
        </p:blipFill>
        <p:spPr>
          <a:xfrm>
            <a:off x="1264500" y="2170102"/>
            <a:ext cx="6614998" cy="27333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Lumpability</a:t>
            </a:r>
            <a:endParaRPr/>
          </a:p>
        </p:txBody>
      </p:sp>
      <p:sp>
        <p:nvSpPr>
          <p:cNvPr id="281" name="Google Shape;28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 equivalent states are such thanks to an equivalence relation that is reflexive, </a:t>
            </a:r>
            <a:r>
              <a:rPr lang="it"/>
              <a:t>symmetric</a:t>
            </a:r>
            <a:r>
              <a:rPr lang="it"/>
              <a:t> and transitive. </a:t>
            </a:r>
            <a:endParaRPr/>
          </a:p>
          <a:p>
            <a:pPr indent="0" lvl="0" marL="0" rtl="0" algn="l">
              <a:spcBef>
                <a:spcPts val="1200"/>
              </a:spcBef>
              <a:spcAft>
                <a:spcPts val="0"/>
              </a:spcAft>
              <a:buNone/>
            </a:pPr>
            <a:r>
              <a:rPr lang="it"/>
              <a:t>The macro-states will </a:t>
            </a:r>
            <a:r>
              <a:rPr lang="it"/>
              <a:t>have a transition rate calculated with the following formula, which will be used to populate the new CTMC:</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Based on the used equivalence relation to create the partitions, we can also have other “kinds” of lumpabilities.</a:t>
            </a:r>
            <a:endParaRPr/>
          </a:p>
        </p:txBody>
      </p:sp>
      <p:pic>
        <p:nvPicPr>
          <p:cNvPr id="282" name="Google Shape;282;p42"/>
          <p:cNvPicPr preferRelativeResize="0"/>
          <p:nvPr/>
        </p:nvPicPr>
        <p:blipFill>
          <a:blip r:embed="rId3">
            <a:alphaModFix/>
          </a:blip>
          <a:stretch>
            <a:fillRect/>
          </a:stretch>
        </p:blipFill>
        <p:spPr>
          <a:xfrm>
            <a:off x="3426625" y="2851550"/>
            <a:ext cx="2290750" cy="855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Strong </a:t>
            </a:r>
            <a:r>
              <a:rPr lang="it"/>
              <a:t>Lumpability</a:t>
            </a:r>
            <a:endParaRPr/>
          </a:p>
        </p:txBody>
      </p:sp>
      <p:sp>
        <p:nvSpPr>
          <p:cNvPr id="288" name="Google Shape;288;p43"/>
          <p:cNvSpPr txBox="1"/>
          <p:nvPr>
            <p:ph idx="1" type="body"/>
          </p:nvPr>
        </p:nvSpPr>
        <p:spPr>
          <a:xfrm>
            <a:off x="311700" y="1152475"/>
            <a:ext cx="8520600" cy="778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We can show that the strong lumpability, given that for the previously defined equivalence relation and for each different class we have:</a:t>
            </a:r>
            <a:endParaRPr/>
          </a:p>
        </p:txBody>
      </p:sp>
      <p:pic>
        <p:nvPicPr>
          <p:cNvPr id="289" name="Google Shape;289;p43"/>
          <p:cNvPicPr preferRelativeResize="0"/>
          <p:nvPr/>
        </p:nvPicPr>
        <p:blipFill>
          <a:blip r:embed="rId3">
            <a:alphaModFix/>
          </a:blip>
          <a:stretch>
            <a:fillRect/>
          </a:stretch>
        </p:blipFill>
        <p:spPr>
          <a:xfrm>
            <a:off x="311700" y="1986262"/>
            <a:ext cx="827300" cy="233675"/>
          </a:xfrm>
          <a:prstGeom prst="rect">
            <a:avLst/>
          </a:prstGeom>
          <a:noFill/>
          <a:ln>
            <a:noFill/>
          </a:ln>
        </p:spPr>
      </p:pic>
      <p:pic>
        <p:nvPicPr>
          <p:cNvPr id="290" name="Google Shape;290;p43"/>
          <p:cNvPicPr preferRelativeResize="0"/>
          <p:nvPr/>
        </p:nvPicPr>
        <p:blipFill>
          <a:blip r:embed="rId4">
            <a:alphaModFix/>
          </a:blip>
          <a:stretch>
            <a:fillRect/>
          </a:stretch>
        </p:blipFill>
        <p:spPr>
          <a:xfrm>
            <a:off x="1563775" y="1906937"/>
            <a:ext cx="983125" cy="392325"/>
          </a:xfrm>
          <a:prstGeom prst="rect">
            <a:avLst/>
          </a:prstGeom>
          <a:noFill/>
          <a:ln>
            <a:noFill/>
          </a:ln>
        </p:spPr>
      </p:pic>
      <p:pic>
        <p:nvPicPr>
          <p:cNvPr id="291" name="Google Shape;291;p43"/>
          <p:cNvPicPr preferRelativeResize="0"/>
          <p:nvPr/>
        </p:nvPicPr>
        <p:blipFill>
          <a:blip r:embed="rId5">
            <a:alphaModFix/>
          </a:blip>
          <a:stretch>
            <a:fillRect/>
          </a:stretch>
        </p:blipFill>
        <p:spPr>
          <a:xfrm>
            <a:off x="335691" y="3814432"/>
            <a:ext cx="827300" cy="357885"/>
          </a:xfrm>
          <a:prstGeom prst="rect">
            <a:avLst/>
          </a:prstGeom>
          <a:noFill/>
          <a:ln>
            <a:noFill/>
          </a:ln>
        </p:spPr>
      </p:pic>
      <p:pic>
        <p:nvPicPr>
          <p:cNvPr id="292" name="Google Shape;292;p43"/>
          <p:cNvPicPr preferRelativeResize="0"/>
          <p:nvPr/>
        </p:nvPicPr>
        <p:blipFill>
          <a:blip r:embed="rId6">
            <a:alphaModFix/>
          </a:blip>
          <a:stretch>
            <a:fillRect/>
          </a:stretch>
        </p:blipFill>
        <p:spPr>
          <a:xfrm>
            <a:off x="311693" y="2274888"/>
            <a:ext cx="2235200" cy="1539525"/>
          </a:xfrm>
          <a:prstGeom prst="rect">
            <a:avLst/>
          </a:prstGeom>
          <a:noFill/>
          <a:ln>
            <a:noFill/>
          </a:ln>
        </p:spPr>
      </p:pic>
      <p:pic>
        <p:nvPicPr>
          <p:cNvPr id="293" name="Google Shape;293;p43"/>
          <p:cNvPicPr preferRelativeResize="0"/>
          <p:nvPr/>
        </p:nvPicPr>
        <p:blipFill>
          <a:blip r:embed="rId7">
            <a:alphaModFix/>
          </a:blip>
          <a:stretch>
            <a:fillRect/>
          </a:stretch>
        </p:blipFill>
        <p:spPr>
          <a:xfrm>
            <a:off x="3698775" y="1986250"/>
            <a:ext cx="5133526" cy="2483100"/>
          </a:xfrm>
          <a:prstGeom prst="rect">
            <a:avLst/>
          </a:prstGeom>
          <a:noFill/>
          <a:ln>
            <a:noFill/>
          </a:ln>
        </p:spPr>
      </p:pic>
      <p:pic>
        <p:nvPicPr>
          <p:cNvPr id="294" name="Google Shape;294;p43"/>
          <p:cNvPicPr preferRelativeResize="0"/>
          <p:nvPr/>
        </p:nvPicPr>
        <p:blipFill>
          <a:blip r:embed="rId8">
            <a:alphaModFix/>
          </a:blip>
          <a:stretch>
            <a:fillRect/>
          </a:stretch>
        </p:blipFill>
        <p:spPr>
          <a:xfrm>
            <a:off x="1330832" y="3724490"/>
            <a:ext cx="1486025" cy="645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Exact Lumpability</a:t>
            </a:r>
            <a:endParaRPr/>
          </a:p>
        </p:txBody>
      </p:sp>
      <p:sp>
        <p:nvSpPr>
          <p:cNvPr id="300" name="Google Shape;300;p44"/>
          <p:cNvSpPr txBox="1"/>
          <p:nvPr>
            <p:ph idx="1" type="body"/>
          </p:nvPr>
        </p:nvSpPr>
        <p:spPr>
          <a:xfrm>
            <a:off x="311700" y="1152475"/>
            <a:ext cx="8520600" cy="53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We can show we have exact lumpability in a “similar way” to the strong lumpability:</a:t>
            </a:r>
            <a:endParaRPr/>
          </a:p>
        </p:txBody>
      </p:sp>
      <p:pic>
        <p:nvPicPr>
          <p:cNvPr id="301" name="Google Shape;301;p44"/>
          <p:cNvPicPr preferRelativeResize="0"/>
          <p:nvPr/>
        </p:nvPicPr>
        <p:blipFill>
          <a:blip r:embed="rId3">
            <a:alphaModFix/>
          </a:blip>
          <a:stretch>
            <a:fillRect/>
          </a:stretch>
        </p:blipFill>
        <p:spPr>
          <a:xfrm>
            <a:off x="311700" y="1906275"/>
            <a:ext cx="769288" cy="269825"/>
          </a:xfrm>
          <a:prstGeom prst="rect">
            <a:avLst/>
          </a:prstGeom>
          <a:noFill/>
          <a:ln>
            <a:noFill/>
          </a:ln>
        </p:spPr>
      </p:pic>
      <p:pic>
        <p:nvPicPr>
          <p:cNvPr id="302" name="Google Shape;302;p44"/>
          <p:cNvPicPr preferRelativeResize="0"/>
          <p:nvPr/>
        </p:nvPicPr>
        <p:blipFill>
          <a:blip r:embed="rId4">
            <a:alphaModFix/>
          </a:blip>
          <a:stretch>
            <a:fillRect/>
          </a:stretch>
        </p:blipFill>
        <p:spPr>
          <a:xfrm>
            <a:off x="1637874" y="1818100"/>
            <a:ext cx="1078250" cy="446175"/>
          </a:xfrm>
          <a:prstGeom prst="rect">
            <a:avLst/>
          </a:prstGeom>
          <a:noFill/>
          <a:ln>
            <a:noFill/>
          </a:ln>
        </p:spPr>
      </p:pic>
      <p:pic>
        <p:nvPicPr>
          <p:cNvPr id="303" name="Google Shape;303;p44"/>
          <p:cNvPicPr preferRelativeResize="0"/>
          <p:nvPr/>
        </p:nvPicPr>
        <p:blipFill>
          <a:blip r:embed="rId5">
            <a:alphaModFix/>
          </a:blip>
          <a:stretch>
            <a:fillRect/>
          </a:stretch>
        </p:blipFill>
        <p:spPr>
          <a:xfrm>
            <a:off x="3775007" y="1855800"/>
            <a:ext cx="5052600" cy="2652251"/>
          </a:xfrm>
          <a:prstGeom prst="rect">
            <a:avLst/>
          </a:prstGeom>
          <a:noFill/>
          <a:ln>
            <a:noFill/>
          </a:ln>
        </p:spPr>
      </p:pic>
      <p:pic>
        <p:nvPicPr>
          <p:cNvPr id="304" name="Google Shape;304;p44"/>
          <p:cNvPicPr preferRelativeResize="0"/>
          <p:nvPr/>
        </p:nvPicPr>
        <p:blipFill>
          <a:blip r:embed="rId6">
            <a:alphaModFix/>
          </a:blip>
          <a:stretch>
            <a:fillRect/>
          </a:stretch>
        </p:blipFill>
        <p:spPr>
          <a:xfrm>
            <a:off x="311700" y="2264275"/>
            <a:ext cx="2404424" cy="1677901"/>
          </a:xfrm>
          <a:prstGeom prst="rect">
            <a:avLst/>
          </a:prstGeom>
          <a:noFill/>
          <a:ln>
            <a:noFill/>
          </a:ln>
        </p:spPr>
      </p:pic>
      <p:pic>
        <p:nvPicPr>
          <p:cNvPr id="305" name="Google Shape;305;p44"/>
          <p:cNvPicPr preferRelativeResize="0"/>
          <p:nvPr/>
        </p:nvPicPr>
        <p:blipFill>
          <a:blip r:embed="rId7">
            <a:alphaModFix/>
          </a:blip>
          <a:stretch>
            <a:fillRect/>
          </a:stretch>
        </p:blipFill>
        <p:spPr>
          <a:xfrm>
            <a:off x="311693" y="4030350"/>
            <a:ext cx="756328" cy="2698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Exact Lumpability</a:t>
            </a:r>
            <a:endParaRPr/>
          </a:p>
        </p:txBody>
      </p:sp>
      <p:sp>
        <p:nvSpPr>
          <p:cNvPr id="311" name="Google Shape;311;p45"/>
          <p:cNvSpPr txBox="1"/>
          <p:nvPr>
            <p:ph idx="1" type="body"/>
          </p:nvPr>
        </p:nvSpPr>
        <p:spPr>
          <a:xfrm>
            <a:off x="311700" y="1152475"/>
            <a:ext cx="8520600" cy="53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But exact lumpability does not need the two classes to be different</a:t>
            </a:r>
            <a:endParaRPr/>
          </a:p>
        </p:txBody>
      </p:sp>
      <p:pic>
        <p:nvPicPr>
          <p:cNvPr id="312" name="Google Shape;312;p45"/>
          <p:cNvPicPr preferRelativeResize="0"/>
          <p:nvPr/>
        </p:nvPicPr>
        <p:blipFill>
          <a:blip r:embed="rId3">
            <a:alphaModFix/>
          </a:blip>
          <a:stretch>
            <a:fillRect/>
          </a:stretch>
        </p:blipFill>
        <p:spPr>
          <a:xfrm>
            <a:off x="4931940" y="1970724"/>
            <a:ext cx="3614751" cy="2249950"/>
          </a:xfrm>
          <a:prstGeom prst="rect">
            <a:avLst/>
          </a:prstGeom>
          <a:noFill/>
          <a:ln>
            <a:noFill/>
          </a:ln>
        </p:spPr>
      </p:pic>
      <p:pic>
        <p:nvPicPr>
          <p:cNvPr id="313" name="Google Shape;313;p45"/>
          <p:cNvPicPr preferRelativeResize="0"/>
          <p:nvPr/>
        </p:nvPicPr>
        <p:blipFill>
          <a:blip r:embed="rId4">
            <a:alphaModFix/>
          </a:blip>
          <a:stretch>
            <a:fillRect/>
          </a:stretch>
        </p:blipFill>
        <p:spPr>
          <a:xfrm>
            <a:off x="3701280" y="2111550"/>
            <a:ext cx="1414500" cy="337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Strict Lumpability</a:t>
            </a:r>
            <a:endParaRPr/>
          </a:p>
        </p:txBody>
      </p:sp>
      <p:sp>
        <p:nvSpPr>
          <p:cNvPr id="319" name="Google Shape;319;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Strict lumpability happens only when strong and exact lumpability are valid. </a:t>
            </a:r>
            <a:endParaRPr/>
          </a:p>
          <a:p>
            <a:pPr indent="0" lvl="0" marL="0" rtl="0" algn="l">
              <a:spcBef>
                <a:spcPts val="1200"/>
              </a:spcBef>
              <a:spcAft>
                <a:spcPts val="0"/>
              </a:spcAft>
              <a:buNone/>
            </a:pPr>
            <a:r>
              <a:rPr lang="it"/>
              <a:t>If strict lumpability were valid, we would have the following properties:</a:t>
            </a:r>
            <a:endParaRPr/>
          </a:p>
          <a:p>
            <a:pPr indent="-342900" lvl="0" marL="457200" rtl="0" algn="l">
              <a:spcBef>
                <a:spcPts val="1200"/>
              </a:spcBef>
              <a:spcAft>
                <a:spcPts val="0"/>
              </a:spcAft>
              <a:buSzPts val="1800"/>
              <a:buChar char="●"/>
            </a:pPr>
            <a:r>
              <a:rPr lang="it"/>
              <a:t>     is a Markov process</a:t>
            </a:r>
            <a:endParaRPr/>
          </a:p>
          <a:p>
            <a:pPr indent="-342900" lvl="0" marL="457200" rtl="0" algn="l">
              <a:spcBef>
                <a:spcPts val="0"/>
              </a:spcBef>
              <a:spcAft>
                <a:spcPts val="0"/>
              </a:spcAft>
              <a:buSzPts val="1800"/>
              <a:buChar char="●"/>
            </a:pPr>
            <a:r>
              <a:rPr lang="it"/>
              <a:t>          forall states             such that</a:t>
            </a:r>
            <a:endParaRPr/>
          </a:p>
          <a:p>
            <a:pPr indent="-342900" lvl="0" marL="457200" rtl="0" algn="l">
              <a:spcBef>
                <a:spcPts val="0"/>
              </a:spcBef>
              <a:spcAft>
                <a:spcPts val="0"/>
              </a:spcAft>
              <a:buSzPts val="1800"/>
              <a:buChar char="●"/>
            </a:pPr>
            <a:r>
              <a:rPr lang="it"/>
              <a:t>           forall</a:t>
            </a:r>
            <a:endParaRPr/>
          </a:p>
        </p:txBody>
      </p:sp>
      <p:pic>
        <p:nvPicPr>
          <p:cNvPr id="320" name="Google Shape;320;p46"/>
          <p:cNvPicPr preferRelativeResize="0"/>
          <p:nvPr/>
        </p:nvPicPr>
        <p:blipFill>
          <a:blip r:embed="rId3">
            <a:alphaModFix/>
          </a:blip>
          <a:stretch>
            <a:fillRect/>
          </a:stretch>
        </p:blipFill>
        <p:spPr>
          <a:xfrm>
            <a:off x="697925" y="2218975"/>
            <a:ext cx="424974" cy="269825"/>
          </a:xfrm>
          <a:prstGeom prst="rect">
            <a:avLst/>
          </a:prstGeom>
          <a:noFill/>
          <a:ln>
            <a:noFill/>
          </a:ln>
        </p:spPr>
      </p:pic>
      <p:pic>
        <p:nvPicPr>
          <p:cNvPr id="321" name="Google Shape;321;p46"/>
          <p:cNvPicPr preferRelativeResize="0"/>
          <p:nvPr/>
        </p:nvPicPr>
        <p:blipFill>
          <a:blip r:embed="rId4">
            <a:alphaModFix/>
          </a:blip>
          <a:stretch>
            <a:fillRect/>
          </a:stretch>
        </p:blipFill>
        <p:spPr>
          <a:xfrm>
            <a:off x="697925" y="2550796"/>
            <a:ext cx="693475" cy="217575"/>
          </a:xfrm>
          <a:prstGeom prst="rect">
            <a:avLst/>
          </a:prstGeom>
          <a:noFill/>
          <a:ln>
            <a:noFill/>
          </a:ln>
        </p:spPr>
      </p:pic>
      <p:pic>
        <p:nvPicPr>
          <p:cNvPr id="322" name="Google Shape;322;p46"/>
          <p:cNvPicPr preferRelativeResize="0"/>
          <p:nvPr/>
        </p:nvPicPr>
        <p:blipFill>
          <a:blip r:embed="rId5">
            <a:alphaModFix/>
          </a:blip>
          <a:stretch>
            <a:fillRect/>
          </a:stretch>
        </p:blipFill>
        <p:spPr>
          <a:xfrm>
            <a:off x="2612621" y="2550800"/>
            <a:ext cx="718665" cy="217575"/>
          </a:xfrm>
          <a:prstGeom prst="rect">
            <a:avLst/>
          </a:prstGeom>
          <a:noFill/>
          <a:ln>
            <a:noFill/>
          </a:ln>
        </p:spPr>
      </p:pic>
      <p:pic>
        <p:nvPicPr>
          <p:cNvPr id="323" name="Google Shape;323;p46"/>
          <p:cNvPicPr preferRelativeResize="0"/>
          <p:nvPr/>
        </p:nvPicPr>
        <p:blipFill>
          <a:blip r:embed="rId6">
            <a:alphaModFix/>
          </a:blip>
          <a:stretch>
            <a:fillRect/>
          </a:stretch>
        </p:blipFill>
        <p:spPr>
          <a:xfrm>
            <a:off x="4299888" y="2550800"/>
            <a:ext cx="580193" cy="217575"/>
          </a:xfrm>
          <a:prstGeom prst="rect">
            <a:avLst/>
          </a:prstGeom>
          <a:noFill/>
          <a:ln>
            <a:noFill/>
          </a:ln>
        </p:spPr>
      </p:pic>
      <p:pic>
        <p:nvPicPr>
          <p:cNvPr id="324" name="Google Shape;324;p46"/>
          <p:cNvPicPr preferRelativeResize="0"/>
          <p:nvPr/>
        </p:nvPicPr>
        <p:blipFill>
          <a:blip r:embed="rId7">
            <a:alphaModFix/>
          </a:blip>
          <a:stretch>
            <a:fillRect/>
          </a:stretch>
        </p:blipFill>
        <p:spPr>
          <a:xfrm>
            <a:off x="697926" y="2856500"/>
            <a:ext cx="749449" cy="217575"/>
          </a:xfrm>
          <a:prstGeom prst="rect">
            <a:avLst/>
          </a:prstGeom>
          <a:noFill/>
          <a:ln>
            <a:noFill/>
          </a:ln>
        </p:spPr>
      </p:pic>
      <p:pic>
        <p:nvPicPr>
          <p:cNvPr id="325" name="Google Shape;325;p46"/>
          <p:cNvPicPr preferRelativeResize="0"/>
          <p:nvPr/>
        </p:nvPicPr>
        <p:blipFill>
          <a:blip r:embed="rId8">
            <a:alphaModFix/>
          </a:blip>
          <a:stretch>
            <a:fillRect/>
          </a:stretch>
        </p:blipFill>
        <p:spPr>
          <a:xfrm>
            <a:off x="2052855" y="2856500"/>
            <a:ext cx="899712" cy="217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9" name="Shape 329"/>
        <p:cNvGrpSpPr/>
        <p:nvPr/>
      </p:nvGrpSpPr>
      <p:grpSpPr>
        <a:xfrm>
          <a:off x="0" y="0"/>
          <a:ext cx="0" cy="0"/>
          <a:chOff x="0" y="0"/>
          <a:chExt cx="0" cy="0"/>
        </a:xfrm>
      </p:grpSpPr>
      <p:sp>
        <p:nvSpPr>
          <p:cNvPr id="330" name="Google Shape;33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Exact Lumpability</a:t>
            </a:r>
            <a:endParaRPr/>
          </a:p>
        </p:txBody>
      </p:sp>
      <p:sp>
        <p:nvSpPr>
          <p:cNvPr id="331" name="Google Shape;33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We can show we have exact lumpability in a “similar way” to the strong lumpability:</a:t>
            </a:r>
            <a:endParaRPr/>
          </a:p>
        </p:txBody>
      </p:sp>
      <p:pic>
        <p:nvPicPr>
          <p:cNvPr id="332" name="Google Shape;332;p47"/>
          <p:cNvPicPr preferRelativeResize="0"/>
          <p:nvPr/>
        </p:nvPicPr>
        <p:blipFill>
          <a:blip r:embed="rId3">
            <a:alphaModFix/>
          </a:blip>
          <a:stretch>
            <a:fillRect/>
          </a:stretch>
        </p:blipFill>
        <p:spPr>
          <a:xfrm>
            <a:off x="311700" y="1906275"/>
            <a:ext cx="769288" cy="269825"/>
          </a:xfrm>
          <a:prstGeom prst="rect">
            <a:avLst/>
          </a:prstGeom>
          <a:noFill/>
          <a:ln>
            <a:noFill/>
          </a:ln>
        </p:spPr>
      </p:pic>
      <p:pic>
        <p:nvPicPr>
          <p:cNvPr id="333" name="Google Shape;333;p47"/>
          <p:cNvPicPr preferRelativeResize="0"/>
          <p:nvPr/>
        </p:nvPicPr>
        <p:blipFill>
          <a:blip r:embed="rId4">
            <a:alphaModFix/>
          </a:blip>
          <a:stretch>
            <a:fillRect/>
          </a:stretch>
        </p:blipFill>
        <p:spPr>
          <a:xfrm>
            <a:off x="1637874" y="1818100"/>
            <a:ext cx="1078250" cy="446175"/>
          </a:xfrm>
          <a:prstGeom prst="rect">
            <a:avLst/>
          </a:prstGeom>
          <a:noFill/>
          <a:ln>
            <a:noFill/>
          </a:ln>
        </p:spPr>
      </p:pic>
      <p:pic>
        <p:nvPicPr>
          <p:cNvPr id="334" name="Google Shape;334;p47"/>
          <p:cNvPicPr preferRelativeResize="0"/>
          <p:nvPr/>
        </p:nvPicPr>
        <p:blipFill>
          <a:blip r:embed="rId5">
            <a:alphaModFix/>
          </a:blip>
          <a:stretch>
            <a:fillRect/>
          </a:stretch>
        </p:blipFill>
        <p:spPr>
          <a:xfrm>
            <a:off x="3775007" y="1855800"/>
            <a:ext cx="5052600" cy="2652251"/>
          </a:xfrm>
          <a:prstGeom prst="rect">
            <a:avLst/>
          </a:prstGeom>
          <a:noFill/>
          <a:ln>
            <a:noFill/>
          </a:ln>
        </p:spPr>
      </p:pic>
      <p:pic>
        <p:nvPicPr>
          <p:cNvPr id="335" name="Google Shape;335;p47"/>
          <p:cNvPicPr preferRelativeResize="0"/>
          <p:nvPr/>
        </p:nvPicPr>
        <p:blipFill>
          <a:blip r:embed="rId6">
            <a:alphaModFix/>
          </a:blip>
          <a:stretch>
            <a:fillRect/>
          </a:stretch>
        </p:blipFill>
        <p:spPr>
          <a:xfrm>
            <a:off x="311700" y="2264275"/>
            <a:ext cx="2404424" cy="1677901"/>
          </a:xfrm>
          <a:prstGeom prst="rect">
            <a:avLst/>
          </a:prstGeom>
          <a:noFill/>
          <a:ln>
            <a:noFill/>
          </a:ln>
        </p:spPr>
      </p:pic>
      <p:pic>
        <p:nvPicPr>
          <p:cNvPr id="336" name="Google Shape;336;p47"/>
          <p:cNvPicPr preferRelativeResize="0"/>
          <p:nvPr/>
        </p:nvPicPr>
        <p:blipFill>
          <a:blip r:embed="rId7">
            <a:alphaModFix/>
          </a:blip>
          <a:stretch>
            <a:fillRect/>
          </a:stretch>
        </p:blipFill>
        <p:spPr>
          <a:xfrm>
            <a:off x="311693" y="4030350"/>
            <a:ext cx="756328" cy="2698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Strict Lumpability</a:t>
            </a:r>
            <a:endParaRPr/>
          </a:p>
        </p:txBody>
      </p:sp>
      <p:sp>
        <p:nvSpPr>
          <p:cNvPr id="342" name="Google Shape;342;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Given that we have strong and exact lumpability, we also have strict lumpability. This means that we have the following properties:</a:t>
            </a:r>
            <a:endParaRPr/>
          </a:p>
          <a:p>
            <a:pPr indent="-342900" lvl="0" marL="457200" rtl="0" algn="l">
              <a:spcBef>
                <a:spcPts val="1200"/>
              </a:spcBef>
              <a:spcAft>
                <a:spcPts val="0"/>
              </a:spcAft>
              <a:buSzPts val="1800"/>
              <a:buChar char="●"/>
            </a:pPr>
            <a:r>
              <a:rPr lang="it"/>
              <a:t>     is a Markov process</a:t>
            </a:r>
            <a:endParaRPr/>
          </a:p>
          <a:p>
            <a:pPr indent="-342900" lvl="0" marL="457200" rtl="0" algn="l">
              <a:spcBef>
                <a:spcPts val="0"/>
              </a:spcBef>
              <a:spcAft>
                <a:spcPts val="0"/>
              </a:spcAft>
              <a:buSzPts val="1800"/>
              <a:buChar char="●"/>
            </a:pPr>
            <a:r>
              <a:rPr lang="it"/>
              <a:t>          forall states             such that</a:t>
            </a:r>
            <a:endParaRPr/>
          </a:p>
          <a:p>
            <a:pPr indent="-342900" lvl="0" marL="457200" rtl="0" algn="l">
              <a:spcBef>
                <a:spcPts val="0"/>
              </a:spcBef>
              <a:spcAft>
                <a:spcPts val="0"/>
              </a:spcAft>
              <a:buSzPts val="1800"/>
              <a:buChar char="●"/>
            </a:pPr>
            <a:r>
              <a:rPr lang="it"/>
              <a:t>           forall</a:t>
            </a:r>
            <a:endParaRPr/>
          </a:p>
        </p:txBody>
      </p:sp>
      <p:pic>
        <p:nvPicPr>
          <p:cNvPr id="343" name="Google Shape;343;p48"/>
          <p:cNvPicPr preferRelativeResize="0"/>
          <p:nvPr/>
        </p:nvPicPr>
        <p:blipFill>
          <a:blip r:embed="rId3">
            <a:alphaModFix/>
          </a:blip>
          <a:stretch>
            <a:fillRect/>
          </a:stretch>
        </p:blipFill>
        <p:spPr>
          <a:xfrm>
            <a:off x="697925" y="2053625"/>
            <a:ext cx="424974" cy="269825"/>
          </a:xfrm>
          <a:prstGeom prst="rect">
            <a:avLst/>
          </a:prstGeom>
          <a:noFill/>
          <a:ln>
            <a:noFill/>
          </a:ln>
        </p:spPr>
      </p:pic>
      <p:pic>
        <p:nvPicPr>
          <p:cNvPr id="344" name="Google Shape;344;p48"/>
          <p:cNvPicPr preferRelativeResize="0"/>
          <p:nvPr/>
        </p:nvPicPr>
        <p:blipFill>
          <a:blip r:embed="rId4">
            <a:alphaModFix/>
          </a:blip>
          <a:stretch>
            <a:fillRect/>
          </a:stretch>
        </p:blipFill>
        <p:spPr>
          <a:xfrm>
            <a:off x="697925" y="2385446"/>
            <a:ext cx="693475" cy="217575"/>
          </a:xfrm>
          <a:prstGeom prst="rect">
            <a:avLst/>
          </a:prstGeom>
          <a:noFill/>
          <a:ln>
            <a:noFill/>
          </a:ln>
        </p:spPr>
      </p:pic>
      <p:pic>
        <p:nvPicPr>
          <p:cNvPr id="345" name="Google Shape;345;p48"/>
          <p:cNvPicPr preferRelativeResize="0"/>
          <p:nvPr/>
        </p:nvPicPr>
        <p:blipFill>
          <a:blip r:embed="rId5">
            <a:alphaModFix/>
          </a:blip>
          <a:stretch>
            <a:fillRect/>
          </a:stretch>
        </p:blipFill>
        <p:spPr>
          <a:xfrm>
            <a:off x="2612621" y="2385450"/>
            <a:ext cx="718665" cy="217575"/>
          </a:xfrm>
          <a:prstGeom prst="rect">
            <a:avLst/>
          </a:prstGeom>
          <a:noFill/>
          <a:ln>
            <a:noFill/>
          </a:ln>
        </p:spPr>
      </p:pic>
      <p:pic>
        <p:nvPicPr>
          <p:cNvPr id="346" name="Google Shape;346;p48"/>
          <p:cNvPicPr preferRelativeResize="0"/>
          <p:nvPr/>
        </p:nvPicPr>
        <p:blipFill>
          <a:blip r:embed="rId6">
            <a:alphaModFix/>
          </a:blip>
          <a:stretch>
            <a:fillRect/>
          </a:stretch>
        </p:blipFill>
        <p:spPr>
          <a:xfrm>
            <a:off x="4299888" y="2385450"/>
            <a:ext cx="580193" cy="217575"/>
          </a:xfrm>
          <a:prstGeom prst="rect">
            <a:avLst/>
          </a:prstGeom>
          <a:noFill/>
          <a:ln>
            <a:noFill/>
          </a:ln>
        </p:spPr>
      </p:pic>
      <p:pic>
        <p:nvPicPr>
          <p:cNvPr id="347" name="Google Shape;347;p48"/>
          <p:cNvPicPr preferRelativeResize="0"/>
          <p:nvPr/>
        </p:nvPicPr>
        <p:blipFill>
          <a:blip r:embed="rId7">
            <a:alphaModFix/>
          </a:blip>
          <a:stretch>
            <a:fillRect/>
          </a:stretch>
        </p:blipFill>
        <p:spPr>
          <a:xfrm>
            <a:off x="697926" y="2691150"/>
            <a:ext cx="749449" cy="217575"/>
          </a:xfrm>
          <a:prstGeom prst="rect">
            <a:avLst/>
          </a:prstGeom>
          <a:noFill/>
          <a:ln>
            <a:noFill/>
          </a:ln>
        </p:spPr>
      </p:pic>
      <p:pic>
        <p:nvPicPr>
          <p:cNvPr id="348" name="Google Shape;348;p48"/>
          <p:cNvPicPr preferRelativeResize="0"/>
          <p:nvPr/>
        </p:nvPicPr>
        <p:blipFill>
          <a:blip r:embed="rId8">
            <a:alphaModFix/>
          </a:blip>
          <a:stretch>
            <a:fillRect/>
          </a:stretch>
        </p:blipFill>
        <p:spPr>
          <a:xfrm>
            <a:off x="2052855" y="2691150"/>
            <a:ext cx="899712" cy="2175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2" name="Shape 352"/>
        <p:cNvGrpSpPr/>
        <p:nvPr/>
      </p:nvGrpSpPr>
      <p:grpSpPr>
        <a:xfrm>
          <a:off x="0" y="0"/>
          <a:ext cx="0" cy="0"/>
          <a:chOff x="0" y="0"/>
          <a:chExt cx="0" cy="0"/>
        </a:xfrm>
      </p:grpSpPr>
      <p:sp>
        <p:nvSpPr>
          <p:cNvPr id="353" name="Google Shape;35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Lumped Models</a:t>
            </a:r>
            <a:endParaRPr/>
          </a:p>
        </p:txBody>
      </p:sp>
      <p:sp>
        <p:nvSpPr>
          <p:cNvPr id="354" name="Google Shape;35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Here we can see what is the result of the lumped model The CTMCs are shown for a cleaner look and, for this specific case, the transitions </a:t>
            </a:r>
            <a:r>
              <a:rPr lang="it"/>
              <a:t>remains</a:t>
            </a:r>
            <a:r>
              <a:rPr lang="it"/>
              <a:t> untouched.</a:t>
            </a:r>
            <a:endParaRPr/>
          </a:p>
        </p:txBody>
      </p:sp>
      <p:pic>
        <p:nvPicPr>
          <p:cNvPr id="355" name="Google Shape;355;p49"/>
          <p:cNvPicPr preferRelativeResize="0"/>
          <p:nvPr/>
        </p:nvPicPr>
        <p:blipFill>
          <a:blip r:embed="rId3">
            <a:alphaModFix/>
          </a:blip>
          <a:stretch>
            <a:fillRect/>
          </a:stretch>
        </p:blipFill>
        <p:spPr>
          <a:xfrm>
            <a:off x="311700" y="2326939"/>
            <a:ext cx="3719401" cy="2241925"/>
          </a:xfrm>
          <a:prstGeom prst="rect">
            <a:avLst/>
          </a:prstGeom>
          <a:noFill/>
          <a:ln>
            <a:noFill/>
          </a:ln>
        </p:spPr>
      </p:pic>
      <p:pic>
        <p:nvPicPr>
          <p:cNvPr id="356" name="Google Shape;356;p49"/>
          <p:cNvPicPr preferRelativeResize="0"/>
          <p:nvPr/>
        </p:nvPicPr>
        <p:blipFill>
          <a:blip r:embed="rId4">
            <a:alphaModFix/>
          </a:blip>
          <a:stretch>
            <a:fillRect/>
          </a:stretch>
        </p:blipFill>
        <p:spPr>
          <a:xfrm>
            <a:off x="5736975" y="2174212"/>
            <a:ext cx="1928775" cy="2547400"/>
          </a:xfrm>
          <a:prstGeom prst="rect">
            <a:avLst/>
          </a:prstGeom>
          <a:noFill/>
          <a:ln>
            <a:noFill/>
          </a:ln>
        </p:spPr>
      </p:pic>
      <p:pic>
        <p:nvPicPr>
          <p:cNvPr id="357" name="Google Shape;357;p49"/>
          <p:cNvPicPr preferRelativeResize="0"/>
          <p:nvPr/>
        </p:nvPicPr>
        <p:blipFill>
          <a:blip r:embed="rId5">
            <a:alphaModFix/>
          </a:blip>
          <a:stretch>
            <a:fillRect/>
          </a:stretch>
        </p:blipFill>
        <p:spPr>
          <a:xfrm>
            <a:off x="311700" y="4386777"/>
            <a:ext cx="2222900" cy="8051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0"/>
          <p:cNvSpPr txBox="1"/>
          <p:nvPr>
            <p:ph type="title"/>
          </p:nvPr>
        </p:nvSpPr>
        <p:spPr>
          <a:xfrm>
            <a:off x="311700" y="2252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FINE!!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6" name="Shape 366"/>
        <p:cNvGrpSpPr/>
        <p:nvPr/>
      </p:nvGrpSpPr>
      <p:grpSpPr>
        <a:xfrm>
          <a:off x="0" y="0"/>
          <a:ext cx="0" cy="0"/>
          <a:chOff x="0" y="0"/>
          <a:chExt cx="0" cy="0"/>
        </a:xfrm>
      </p:grpSpPr>
      <p:sp>
        <p:nvSpPr>
          <p:cNvPr id="367" name="Google Shape;36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Strong Equivalence</a:t>
            </a:r>
            <a:endParaRPr/>
          </a:p>
        </p:txBody>
      </p:sp>
      <p:sp>
        <p:nvSpPr>
          <p:cNvPr id="368" name="Google Shape;36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Finally we could also prove that the 2 previously shown models are strong equivalent to </a:t>
            </a:r>
            <a:r>
              <a:rPr lang="it"/>
              <a:t>each other. This could be done by using the definition, i.e., whenever</a:t>
            </a:r>
            <a:br>
              <a:rPr lang="it"/>
            </a:br>
            <a:r>
              <a:rPr lang="it"/>
              <a:t>               ,             and               we must have that                             .</a:t>
            </a:r>
            <a:endParaRPr/>
          </a:p>
          <a:p>
            <a:pPr indent="0" lvl="0" marL="0" rtl="0" algn="l">
              <a:spcBef>
                <a:spcPts val="1200"/>
              </a:spcBef>
              <a:spcAft>
                <a:spcPts val="1200"/>
              </a:spcAft>
              <a:buNone/>
            </a:pPr>
            <a:r>
              <a:rPr lang="it"/>
              <a:t>This property is essential to simplify models and analyze them if, for example, they have too many states.</a:t>
            </a:r>
            <a:endParaRPr/>
          </a:p>
        </p:txBody>
      </p:sp>
      <p:pic>
        <p:nvPicPr>
          <p:cNvPr id="369" name="Google Shape;369;p51"/>
          <p:cNvPicPr preferRelativeResize="0"/>
          <p:nvPr/>
        </p:nvPicPr>
        <p:blipFill>
          <a:blip r:embed="rId3">
            <a:alphaModFix/>
          </a:blip>
          <a:stretch>
            <a:fillRect/>
          </a:stretch>
        </p:blipFill>
        <p:spPr>
          <a:xfrm>
            <a:off x="437800" y="1923265"/>
            <a:ext cx="827100" cy="206775"/>
          </a:xfrm>
          <a:prstGeom prst="rect">
            <a:avLst/>
          </a:prstGeom>
          <a:noFill/>
          <a:ln>
            <a:noFill/>
          </a:ln>
        </p:spPr>
      </p:pic>
      <p:pic>
        <p:nvPicPr>
          <p:cNvPr id="370" name="Google Shape;370;p51"/>
          <p:cNvPicPr preferRelativeResize="0"/>
          <p:nvPr/>
        </p:nvPicPr>
        <p:blipFill>
          <a:blip r:embed="rId4">
            <a:alphaModFix/>
          </a:blip>
          <a:stretch>
            <a:fillRect/>
          </a:stretch>
        </p:blipFill>
        <p:spPr>
          <a:xfrm>
            <a:off x="1415060" y="1923275"/>
            <a:ext cx="653680" cy="206775"/>
          </a:xfrm>
          <a:prstGeom prst="rect">
            <a:avLst/>
          </a:prstGeom>
          <a:noFill/>
          <a:ln>
            <a:noFill/>
          </a:ln>
        </p:spPr>
      </p:pic>
      <p:pic>
        <p:nvPicPr>
          <p:cNvPr id="371" name="Google Shape;371;p51"/>
          <p:cNvPicPr preferRelativeResize="0"/>
          <p:nvPr/>
        </p:nvPicPr>
        <p:blipFill>
          <a:blip r:embed="rId5">
            <a:alphaModFix/>
          </a:blip>
          <a:stretch>
            <a:fillRect/>
          </a:stretch>
        </p:blipFill>
        <p:spPr>
          <a:xfrm>
            <a:off x="2514639" y="1923275"/>
            <a:ext cx="788324" cy="206775"/>
          </a:xfrm>
          <a:prstGeom prst="rect">
            <a:avLst/>
          </a:prstGeom>
          <a:noFill/>
          <a:ln>
            <a:noFill/>
          </a:ln>
        </p:spPr>
      </p:pic>
      <p:pic>
        <p:nvPicPr>
          <p:cNvPr id="372" name="Google Shape;372;p51"/>
          <p:cNvPicPr preferRelativeResize="0"/>
          <p:nvPr/>
        </p:nvPicPr>
        <p:blipFill>
          <a:blip r:embed="rId6">
            <a:alphaModFix/>
          </a:blip>
          <a:stretch>
            <a:fillRect/>
          </a:stretch>
        </p:blipFill>
        <p:spPr>
          <a:xfrm>
            <a:off x="5239248" y="1923275"/>
            <a:ext cx="1634355" cy="206775"/>
          </a:xfrm>
          <a:prstGeom prst="rect">
            <a:avLst/>
          </a:prstGeom>
          <a:noFill/>
          <a:ln>
            <a:noFill/>
          </a:ln>
        </p:spPr>
      </p:pic>
      <p:pic>
        <p:nvPicPr>
          <p:cNvPr id="373" name="Google Shape;373;p51"/>
          <p:cNvPicPr preferRelativeResize="0"/>
          <p:nvPr/>
        </p:nvPicPr>
        <p:blipFill>
          <a:blip r:embed="rId7">
            <a:alphaModFix/>
          </a:blip>
          <a:stretch>
            <a:fillRect/>
          </a:stretch>
        </p:blipFill>
        <p:spPr>
          <a:xfrm>
            <a:off x="1415049" y="3025087"/>
            <a:ext cx="2894705" cy="1744827"/>
          </a:xfrm>
          <a:prstGeom prst="rect">
            <a:avLst/>
          </a:prstGeom>
          <a:noFill/>
          <a:ln>
            <a:noFill/>
          </a:ln>
        </p:spPr>
      </p:pic>
      <p:pic>
        <p:nvPicPr>
          <p:cNvPr id="374" name="Google Shape;374;p51"/>
          <p:cNvPicPr preferRelativeResize="0"/>
          <p:nvPr/>
        </p:nvPicPr>
        <p:blipFill>
          <a:blip r:embed="rId8">
            <a:alphaModFix/>
          </a:blip>
          <a:stretch>
            <a:fillRect/>
          </a:stretch>
        </p:blipFill>
        <p:spPr>
          <a:xfrm>
            <a:off x="5637388" y="2906224"/>
            <a:ext cx="1501111" cy="1982571"/>
          </a:xfrm>
          <a:prstGeom prst="rect">
            <a:avLst/>
          </a:prstGeom>
          <a:noFill/>
          <a:ln>
            <a:noFill/>
          </a:ln>
        </p:spPr>
      </p:pic>
      <p:cxnSp>
        <p:nvCxnSpPr>
          <p:cNvPr id="375" name="Google Shape;375;p51"/>
          <p:cNvCxnSpPr/>
          <p:nvPr/>
        </p:nvCxnSpPr>
        <p:spPr>
          <a:xfrm rot="10800000">
            <a:off x="2925500" y="4052575"/>
            <a:ext cx="971100" cy="557400"/>
          </a:xfrm>
          <a:prstGeom prst="straightConnector1">
            <a:avLst/>
          </a:prstGeom>
          <a:noFill/>
          <a:ln cap="flat" cmpd="sng" w="38100">
            <a:solidFill>
              <a:srgbClr val="3C78D8"/>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sp>
        <p:nvSpPr>
          <p:cNvPr id="380" name="Google Shape;38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PEPA - </a:t>
            </a:r>
            <a:r>
              <a:rPr lang="it"/>
              <a:t>Prefix</a:t>
            </a:r>
            <a:endParaRPr/>
          </a:p>
        </p:txBody>
      </p:sp>
      <p:sp>
        <p:nvSpPr>
          <p:cNvPr id="381" name="Google Shape;381;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Component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Apparent Rate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Immediate Activity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SOS Semantic Rule</a:t>
            </a:r>
            <a:endParaRPr/>
          </a:p>
        </p:txBody>
      </p:sp>
      <p:pic>
        <p:nvPicPr>
          <p:cNvPr id="382" name="Google Shape;382;p52"/>
          <p:cNvPicPr preferRelativeResize="0"/>
          <p:nvPr/>
        </p:nvPicPr>
        <p:blipFill>
          <a:blip r:embed="rId3">
            <a:alphaModFix/>
          </a:blip>
          <a:stretch>
            <a:fillRect/>
          </a:stretch>
        </p:blipFill>
        <p:spPr>
          <a:xfrm>
            <a:off x="1986663" y="2031388"/>
            <a:ext cx="2714625" cy="638175"/>
          </a:xfrm>
          <a:prstGeom prst="rect">
            <a:avLst/>
          </a:prstGeom>
          <a:noFill/>
          <a:ln>
            <a:noFill/>
          </a:ln>
        </p:spPr>
      </p:pic>
      <p:pic>
        <p:nvPicPr>
          <p:cNvPr id="383" name="Google Shape;383;p52"/>
          <p:cNvPicPr preferRelativeResize="0"/>
          <p:nvPr/>
        </p:nvPicPr>
        <p:blipFill>
          <a:blip r:embed="rId4">
            <a:alphaModFix/>
          </a:blip>
          <a:stretch>
            <a:fillRect/>
          </a:stretch>
        </p:blipFill>
        <p:spPr>
          <a:xfrm>
            <a:off x="2476175" y="3664000"/>
            <a:ext cx="1981200" cy="904875"/>
          </a:xfrm>
          <a:prstGeom prst="rect">
            <a:avLst/>
          </a:prstGeom>
          <a:noFill/>
          <a:ln>
            <a:noFill/>
          </a:ln>
        </p:spPr>
      </p:pic>
      <p:pic>
        <p:nvPicPr>
          <p:cNvPr id="384" name="Google Shape;384;p52"/>
          <p:cNvPicPr preferRelativeResize="0"/>
          <p:nvPr/>
        </p:nvPicPr>
        <p:blipFill rotWithShape="1">
          <a:blip r:embed="rId5">
            <a:alphaModFix/>
          </a:blip>
          <a:srcRect b="0" l="-3889" r="3890" t="0"/>
          <a:stretch/>
        </p:blipFill>
        <p:spPr>
          <a:xfrm>
            <a:off x="1684675" y="1226764"/>
            <a:ext cx="732425" cy="331100"/>
          </a:xfrm>
          <a:prstGeom prst="rect">
            <a:avLst/>
          </a:prstGeom>
          <a:noFill/>
          <a:ln>
            <a:noFill/>
          </a:ln>
        </p:spPr>
      </p:pic>
      <p:pic>
        <p:nvPicPr>
          <p:cNvPr id="385" name="Google Shape;385;p52"/>
          <p:cNvPicPr preferRelativeResize="0"/>
          <p:nvPr/>
        </p:nvPicPr>
        <p:blipFill>
          <a:blip r:embed="rId6">
            <a:alphaModFix/>
          </a:blip>
          <a:stretch>
            <a:fillRect/>
          </a:stretch>
        </p:blipFill>
        <p:spPr>
          <a:xfrm>
            <a:off x="2476163" y="3160225"/>
            <a:ext cx="1735631" cy="2698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9" name="Shape 389"/>
        <p:cNvGrpSpPr/>
        <p:nvPr/>
      </p:nvGrpSpPr>
      <p:grpSpPr>
        <a:xfrm>
          <a:off x="0" y="0"/>
          <a:ext cx="0" cy="0"/>
          <a:chOff x="0" y="0"/>
          <a:chExt cx="0" cy="0"/>
        </a:xfrm>
      </p:grpSpPr>
      <p:sp>
        <p:nvSpPr>
          <p:cNvPr id="390" name="Google Shape;390;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Component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Apparent Rate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Immediate Activity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SOS Semantic Rule</a:t>
            </a:r>
            <a:endParaRPr/>
          </a:p>
        </p:txBody>
      </p:sp>
      <p:sp>
        <p:nvSpPr>
          <p:cNvPr id="391" name="Google Shape;39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PEPA - Choice</a:t>
            </a:r>
            <a:endParaRPr/>
          </a:p>
        </p:txBody>
      </p:sp>
      <p:pic>
        <p:nvPicPr>
          <p:cNvPr id="392" name="Google Shape;392;p53"/>
          <p:cNvPicPr preferRelativeResize="0"/>
          <p:nvPr/>
        </p:nvPicPr>
        <p:blipFill rotWithShape="1">
          <a:blip r:embed="rId3">
            <a:alphaModFix/>
          </a:blip>
          <a:srcRect b="0" l="0" r="-11532" t="-11532"/>
          <a:stretch/>
        </p:blipFill>
        <p:spPr>
          <a:xfrm>
            <a:off x="1736342" y="1189550"/>
            <a:ext cx="754200" cy="345675"/>
          </a:xfrm>
          <a:prstGeom prst="rect">
            <a:avLst/>
          </a:prstGeom>
          <a:noFill/>
          <a:ln>
            <a:noFill/>
          </a:ln>
        </p:spPr>
      </p:pic>
      <p:pic>
        <p:nvPicPr>
          <p:cNvPr id="393" name="Google Shape;393;p53"/>
          <p:cNvPicPr preferRelativeResize="0"/>
          <p:nvPr/>
        </p:nvPicPr>
        <p:blipFill>
          <a:blip r:embed="rId4">
            <a:alphaModFix/>
          </a:blip>
          <a:stretch>
            <a:fillRect/>
          </a:stretch>
        </p:blipFill>
        <p:spPr>
          <a:xfrm>
            <a:off x="1910625" y="2137075"/>
            <a:ext cx="2504257" cy="469550"/>
          </a:xfrm>
          <a:prstGeom prst="rect">
            <a:avLst/>
          </a:prstGeom>
          <a:noFill/>
          <a:ln>
            <a:noFill/>
          </a:ln>
        </p:spPr>
      </p:pic>
      <p:pic>
        <p:nvPicPr>
          <p:cNvPr id="394" name="Google Shape;394;p53"/>
          <p:cNvPicPr preferRelativeResize="0"/>
          <p:nvPr/>
        </p:nvPicPr>
        <p:blipFill>
          <a:blip r:embed="rId5">
            <a:alphaModFix/>
          </a:blip>
          <a:stretch>
            <a:fillRect/>
          </a:stretch>
        </p:blipFill>
        <p:spPr>
          <a:xfrm>
            <a:off x="2304524" y="3031550"/>
            <a:ext cx="2805950" cy="469550"/>
          </a:xfrm>
          <a:prstGeom prst="rect">
            <a:avLst/>
          </a:prstGeom>
          <a:noFill/>
          <a:ln>
            <a:noFill/>
          </a:ln>
        </p:spPr>
      </p:pic>
      <p:pic>
        <p:nvPicPr>
          <p:cNvPr id="395" name="Google Shape;395;p53"/>
          <p:cNvPicPr preferRelativeResize="0"/>
          <p:nvPr/>
        </p:nvPicPr>
        <p:blipFill>
          <a:blip r:embed="rId6">
            <a:alphaModFix/>
          </a:blip>
          <a:stretch>
            <a:fillRect/>
          </a:stretch>
        </p:blipFill>
        <p:spPr>
          <a:xfrm>
            <a:off x="2490541" y="3822375"/>
            <a:ext cx="2833850" cy="805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9" name="Shape 399"/>
        <p:cNvGrpSpPr/>
        <p:nvPr/>
      </p:nvGrpSpPr>
      <p:grpSpPr>
        <a:xfrm>
          <a:off x="0" y="0"/>
          <a:ext cx="0" cy="0"/>
          <a:chOff x="0" y="0"/>
          <a:chExt cx="0" cy="0"/>
        </a:xfrm>
      </p:grpSpPr>
      <p:pic>
        <p:nvPicPr>
          <p:cNvPr id="400" name="Google Shape;400;p54"/>
          <p:cNvPicPr preferRelativeResize="0"/>
          <p:nvPr/>
        </p:nvPicPr>
        <p:blipFill>
          <a:blip r:embed="rId3">
            <a:alphaModFix/>
          </a:blip>
          <a:stretch>
            <a:fillRect/>
          </a:stretch>
        </p:blipFill>
        <p:spPr>
          <a:xfrm>
            <a:off x="2379350" y="3363850"/>
            <a:ext cx="4624218" cy="1659775"/>
          </a:xfrm>
          <a:prstGeom prst="rect">
            <a:avLst/>
          </a:prstGeom>
          <a:noFill/>
          <a:ln>
            <a:noFill/>
          </a:ln>
        </p:spPr>
      </p:pic>
      <p:sp>
        <p:nvSpPr>
          <p:cNvPr id="401" name="Google Shape;401;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Component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Apparent Rate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Immediate Activity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SOS Semantic Rule</a:t>
            </a:r>
            <a:endParaRPr/>
          </a:p>
        </p:txBody>
      </p:sp>
      <p:sp>
        <p:nvSpPr>
          <p:cNvPr id="402" name="Google Shape;40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PEPA - Cooperation</a:t>
            </a:r>
            <a:endParaRPr/>
          </a:p>
        </p:txBody>
      </p:sp>
      <p:pic>
        <p:nvPicPr>
          <p:cNvPr id="403" name="Google Shape;403;p54"/>
          <p:cNvPicPr preferRelativeResize="0"/>
          <p:nvPr/>
        </p:nvPicPr>
        <p:blipFill>
          <a:blip r:embed="rId4">
            <a:alphaModFix/>
          </a:blip>
          <a:stretch>
            <a:fillRect/>
          </a:stretch>
        </p:blipFill>
        <p:spPr>
          <a:xfrm>
            <a:off x="1715250" y="1250083"/>
            <a:ext cx="586950" cy="297607"/>
          </a:xfrm>
          <a:prstGeom prst="rect">
            <a:avLst/>
          </a:prstGeom>
          <a:noFill/>
          <a:ln>
            <a:noFill/>
          </a:ln>
        </p:spPr>
      </p:pic>
      <p:pic>
        <p:nvPicPr>
          <p:cNvPr id="404" name="Google Shape;404;p54"/>
          <p:cNvPicPr preferRelativeResize="0"/>
          <p:nvPr/>
        </p:nvPicPr>
        <p:blipFill>
          <a:blip r:embed="rId5">
            <a:alphaModFix/>
          </a:blip>
          <a:stretch>
            <a:fillRect/>
          </a:stretch>
        </p:blipFill>
        <p:spPr>
          <a:xfrm>
            <a:off x="1976813" y="1989797"/>
            <a:ext cx="3979975" cy="731025"/>
          </a:xfrm>
          <a:prstGeom prst="rect">
            <a:avLst/>
          </a:prstGeom>
          <a:noFill/>
          <a:ln>
            <a:noFill/>
          </a:ln>
        </p:spPr>
      </p:pic>
      <p:pic>
        <p:nvPicPr>
          <p:cNvPr id="405" name="Google Shape;405;p54"/>
          <p:cNvPicPr preferRelativeResize="0"/>
          <p:nvPr/>
        </p:nvPicPr>
        <p:blipFill>
          <a:blip r:embed="rId6">
            <a:alphaModFix/>
          </a:blip>
          <a:stretch>
            <a:fillRect/>
          </a:stretch>
        </p:blipFill>
        <p:spPr>
          <a:xfrm>
            <a:off x="2302200" y="3100150"/>
            <a:ext cx="5017200" cy="379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Component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Apparent Rate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Immediate Activity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SOS Semantic Rule</a:t>
            </a:r>
            <a:endParaRPr/>
          </a:p>
        </p:txBody>
      </p:sp>
      <p:sp>
        <p:nvSpPr>
          <p:cNvPr id="411" name="Google Shape;411;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PEPA - Hiding</a:t>
            </a:r>
            <a:endParaRPr/>
          </a:p>
        </p:txBody>
      </p:sp>
      <p:pic>
        <p:nvPicPr>
          <p:cNvPr id="412" name="Google Shape;412;p55"/>
          <p:cNvPicPr preferRelativeResize="0"/>
          <p:nvPr/>
        </p:nvPicPr>
        <p:blipFill>
          <a:blip r:embed="rId3">
            <a:alphaModFix/>
          </a:blip>
          <a:stretch>
            <a:fillRect/>
          </a:stretch>
        </p:blipFill>
        <p:spPr>
          <a:xfrm>
            <a:off x="1758675" y="1255225"/>
            <a:ext cx="341249" cy="269825"/>
          </a:xfrm>
          <a:prstGeom prst="rect">
            <a:avLst/>
          </a:prstGeom>
          <a:noFill/>
          <a:ln>
            <a:noFill/>
          </a:ln>
        </p:spPr>
      </p:pic>
      <p:pic>
        <p:nvPicPr>
          <p:cNvPr id="413" name="Google Shape;413;p55"/>
          <p:cNvPicPr preferRelativeResize="0"/>
          <p:nvPr/>
        </p:nvPicPr>
        <p:blipFill>
          <a:blip r:embed="rId4">
            <a:alphaModFix/>
          </a:blip>
          <a:stretch>
            <a:fillRect/>
          </a:stretch>
        </p:blipFill>
        <p:spPr>
          <a:xfrm>
            <a:off x="1902025" y="2010050"/>
            <a:ext cx="2723250" cy="631950"/>
          </a:xfrm>
          <a:prstGeom prst="rect">
            <a:avLst/>
          </a:prstGeom>
          <a:noFill/>
          <a:ln>
            <a:noFill/>
          </a:ln>
        </p:spPr>
      </p:pic>
      <p:pic>
        <p:nvPicPr>
          <p:cNvPr id="414" name="Google Shape;414;p55"/>
          <p:cNvPicPr preferRelativeResize="0"/>
          <p:nvPr/>
        </p:nvPicPr>
        <p:blipFill>
          <a:blip r:embed="rId5">
            <a:alphaModFix/>
          </a:blip>
          <a:stretch>
            <a:fillRect/>
          </a:stretch>
        </p:blipFill>
        <p:spPr>
          <a:xfrm>
            <a:off x="2383051" y="2997925"/>
            <a:ext cx="3981826" cy="631950"/>
          </a:xfrm>
          <a:prstGeom prst="rect">
            <a:avLst/>
          </a:prstGeom>
          <a:noFill/>
          <a:ln>
            <a:noFill/>
          </a:ln>
        </p:spPr>
      </p:pic>
      <p:pic>
        <p:nvPicPr>
          <p:cNvPr id="415" name="Google Shape;415;p55"/>
          <p:cNvPicPr preferRelativeResize="0"/>
          <p:nvPr/>
        </p:nvPicPr>
        <p:blipFill>
          <a:blip r:embed="rId6">
            <a:alphaModFix/>
          </a:blip>
          <a:stretch>
            <a:fillRect/>
          </a:stretch>
        </p:blipFill>
        <p:spPr>
          <a:xfrm>
            <a:off x="2464000" y="3858044"/>
            <a:ext cx="3399875" cy="6809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9" name="Shape 419"/>
        <p:cNvGrpSpPr/>
        <p:nvPr/>
      </p:nvGrpSpPr>
      <p:grpSpPr>
        <a:xfrm>
          <a:off x="0" y="0"/>
          <a:ext cx="0" cy="0"/>
          <a:chOff x="0" y="0"/>
          <a:chExt cx="0" cy="0"/>
        </a:xfrm>
      </p:grpSpPr>
      <p:sp>
        <p:nvSpPr>
          <p:cNvPr id="420" name="Google Shape;420;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Component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Apparent Rate </a:t>
            </a:r>
            <a:r>
              <a:rPr lang="it"/>
              <a: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Immediate Activity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SOS Semantic Rule</a:t>
            </a:r>
            <a:endParaRPr/>
          </a:p>
        </p:txBody>
      </p:sp>
      <p:sp>
        <p:nvSpPr>
          <p:cNvPr id="421" name="Google Shape;42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PEPA - Constant</a:t>
            </a:r>
            <a:endParaRPr/>
          </a:p>
        </p:txBody>
      </p:sp>
      <p:pic>
        <p:nvPicPr>
          <p:cNvPr id="422" name="Google Shape;422;p56"/>
          <p:cNvPicPr preferRelativeResize="0"/>
          <p:nvPr/>
        </p:nvPicPr>
        <p:blipFill>
          <a:blip r:embed="rId3">
            <a:alphaModFix/>
          </a:blip>
          <a:stretch>
            <a:fillRect/>
          </a:stretch>
        </p:blipFill>
        <p:spPr>
          <a:xfrm>
            <a:off x="1751450" y="1222625"/>
            <a:ext cx="527975" cy="299450"/>
          </a:xfrm>
          <a:prstGeom prst="rect">
            <a:avLst/>
          </a:prstGeom>
          <a:noFill/>
          <a:ln>
            <a:noFill/>
          </a:ln>
        </p:spPr>
      </p:pic>
      <p:pic>
        <p:nvPicPr>
          <p:cNvPr id="423" name="Google Shape;423;p56"/>
          <p:cNvPicPr preferRelativeResize="0"/>
          <p:nvPr/>
        </p:nvPicPr>
        <p:blipFill>
          <a:blip r:embed="rId4">
            <a:alphaModFix/>
          </a:blip>
          <a:stretch>
            <a:fillRect/>
          </a:stretch>
        </p:blipFill>
        <p:spPr>
          <a:xfrm>
            <a:off x="2477121" y="3878175"/>
            <a:ext cx="1092200" cy="773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7" name="Shape 427"/>
        <p:cNvGrpSpPr/>
        <p:nvPr/>
      </p:nvGrpSpPr>
      <p:grpSpPr>
        <a:xfrm>
          <a:off x="0" y="0"/>
          <a:ext cx="0" cy="0"/>
          <a:chOff x="0" y="0"/>
          <a:chExt cx="0" cy="0"/>
        </a:xfrm>
      </p:grpSpPr>
      <p:sp>
        <p:nvSpPr>
          <p:cNvPr id="428" name="Google Shape;42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PEPA - Operator Precedence</a:t>
            </a:r>
            <a:endParaRPr/>
          </a:p>
        </p:txBody>
      </p:sp>
      <p:pic>
        <p:nvPicPr>
          <p:cNvPr id="429" name="Google Shape;429;p57"/>
          <p:cNvPicPr preferRelativeResize="0"/>
          <p:nvPr/>
        </p:nvPicPr>
        <p:blipFill>
          <a:blip r:embed="rId3">
            <a:alphaModFix/>
          </a:blip>
          <a:stretch>
            <a:fillRect/>
          </a:stretch>
        </p:blipFill>
        <p:spPr>
          <a:xfrm>
            <a:off x="3798263" y="1655775"/>
            <a:ext cx="1547479" cy="1831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